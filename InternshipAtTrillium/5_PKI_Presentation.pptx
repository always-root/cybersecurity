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 id="262" r:id="rId6"/>
    <p:sldId id="260" r:id="rId7"/>
    <p:sldId id="261" r:id="rId8"/>
    <p:sldId id="263" r:id="rId9"/>
    <p:sldId id="265" r:id="rId10"/>
    <p:sldId id="264" r:id="rId11"/>
    <p:sldId id="28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07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0">
                      <a:schemeClr val="tx1"/>
                    </a:gs>
                    <a:gs pos="68000">
                      <a:srgbClr val="F1F1F1"/>
                    </a:gs>
                    <a:gs pos="100000">
                      <a:schemeClr val="bg1">
                        <a:lumMod val="11000"/>
                        <a:lumOff val="89000"/>
                      </a:schemeClr>
                    </a:gs>
                  </a:gsLst>
                  <a:lin ang="5400000" scaled="1"/>
                  <a:tileRect/>
                </a:gradFill>
                <a:effectLst>
                  <a:outerShdw blurRad="469900" dist="342900" dir="5400000" sy="-20000" rotWithShape="0">
                    <a:prstClr val="black">
                      <a:alpha val="66000"/>
                    </a:prstClr>
                  </a:outerShdw>
                </a:effectLst>
              </a:defRPr>
            </a:lvl1pPr>
          </a:lstStyle>
          <a:p>
            <a:pPr lvl="0" algn="r"/>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vert="horz" lIns="91440" tIns="45720" rIns="91440" bIns="45720" rtlCol="0"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stStyle>
          <a:p>
            <a:pPr marL="0" lvl="0" indent="0" algn="r">
              <a:buNone/>
            </a:pPr>
            <a:r>
              <a:rPr lang="en-US"/>
              <a:t>Click to edit Master subtitle style</a:t>
            </a:r>
            <a:endParaRPr lang="en-US" dirty="0"/>
          </a:p>
        </p:txBody>
      </p:sp>
      <p:sp>
        <p:nvSpPr>
          <p:cNvPr id="7" name="Date Placeholder 6"/>
          <p:cNvSpPr>
            <a:spLocks noGrp="1"/>
          </p:cNvSpPr>
          <p:nvPr>
            <p:ph type="dt" sz="half" idx="10"/>
          </p:nvPr>
        </p:nvSpPr>
        <p:spPr/>
        <p:txBody>
          <a:bodyPr/>
          <a:lstStyle/>
          <a:p>
            <a:fld id="{413681EB-1A37-4667-9DEC-8D2B1CB36184}" type="datetimeFigureOut">
              <a:rPr lang="en-US" smtClean="0"/>
              <a:t>1/11/2026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3318864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681EB-1A37-4667-9DEC-8D2B1CB36184}"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749430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32000"/>
                        <a:lumOff val="68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681EB-1A37-4667-9DEC-8D2B1CB36184}"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1425572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681EB-1A37-4667-9DEC-8D2B1CB36184}"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3692530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681EB-1A37-4667-9DEC-8D2B1CB36184}" type="datetimeFigureOut">
              <a:rPr lang="en-US" smtClean="0"/>
              <a:t>1/11/2026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434371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3681EB-1A37-4667-9DEC-8D2B1CB36184}" type="datetimeFigureOut">
              <a:rPr lang="en-US" smtClean="0"/>
              <a:t>1/11/2026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2092739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681EB-1A37-4667-9DEC-8D2B1CB36184}" type="datetimeFigureOut">
              <a:rPr lang="en-US" smtClean="0"/>
              <a:t>1/11/2026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4107876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3681EB-1A37-4667-9DEC-8D2B1CB36184}"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2393076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3681EB-1A37-4667-9DEC-8D2B1CB36184}"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2146462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3681EB-1A37-4667-9DEC-8D2B1CB36184}"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547298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3681EB-1A37-4667-9DEC-8D2B1CB36184}"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995039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3681EB-1A37-4667-9DEC-8D2B1CB36184}"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F5E27-D8F2-4EB9-AC21-5AFDEA9722C8}" type="slidenum">
              <a:rPr lang="en-US" smtClean="0"/>
              <a:t>‹#›</a:t>
            </a:fld>
            <a:endParaRPr 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47119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3681EB-1A37-4667-9DEC-8D2B1CB36184}"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2027146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13681EB-1A37-4667-9DEC-8D2B1CB36184}" type="datetimeFigureOut">
              <a:rPr lang="en-US" smtClean="0"/>
              <a:t>1/11/2026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12584322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13681EB-1A37-4667-9DEC-8D2B1CB36184}" type="datetimeFigureOut">
              <a:rPr lang="en-US" smtClean="0"/>
              <a:t>1/11/2026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670192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681EB-1A37-4667-9DEC-8D2B1CB36184}"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3454661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681EB-1A37-4667-9DEC-8D2B1CB36184}"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EF5E27-D8F2-4EB9-AC21-5AFDEA9722C8}" type="slidenum">
              <a:rPr lang="en-US" smtClean="0"/>
              <a:t>‹#›</a:t>
            </a:fld>
            <a:endParaRPr lang="en-US"/>
          </a:p>
        </p:txBody>
      </p:sp>
    </p:spTree>
    <p:extLst>
      <p:ext uri="{BB962C8B-B14F-4D97-AF65-F5344CB8AC3E}">
        <p14:creationId xmlns:p14="http://schemas.microsoft.com/office/powerpoint/2010/main" val="1746856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13681EB-1A37-4667-9DEC-8D2B1CB36184}" type="datetimeFigureOut">
              <a:rPr lang="en-US" smtClean="0"/>
              <a:t>1/11/2026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9EF5E27-D8F2-4EB9-AC21-5AFDEA9722C8}" type="slidenum">
              <a:rPr lang="en-US" smtClean="0"/>
              <a:t>‹#›</a:t>
            </a:fld>
            <a:endParaRPr lang="en-US"/>
          </a:p>
        </p:txBody>
      </p:sp>
    </p:spTree>
    <p:extLst>
      <p:ext uri="{BB962C8B-B14F-4D97-AF65-F5344CB8AC3E}">
        <p14:creationId xmlns:p14="http://schemas.microsoft.com/office/powerpoint/2010/main" val="650999604"/>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13000"/>
                  <a:lumOff val="87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851F0-B7B0-8DD0-4B89-EB81A6F56D82}"/>
              </a:ext>
            </a:extLst>
          </p:cNvPr>
          <p:cNvSpPr>
            <a:spLocks noGrp="1"/>
          </p:cNvSpPr>
          <p:nvPr>
            <p:ph type="title"/>
          </p:nvPr>
        </p:nvSpPr>
        <p:spPr>
          <a:xfrm>
            <a:off x="979100" y="409274"/>
            <a:ext cx="10233800" cy="1325563"/>
          </a:xfrm>
        </p:spPr>
        <p:txBody>
          <a:bodyPr/>
          <a:lstStyle/>
          <a:p>
            <a:pPr algn="ctr"/>
            <a:r>
              <a:rPr lang="en-US" b="1" dirty="0"/>
              <a:t>How Does PKI Work?</a:t>
            </a:r>
          </a:p>
        </p:txBody>
      </p:sp>
      <p:sp>
        <p:nvSpPr>
          <p:cNvPr id="3" name="Content Placeholder 2">
            <a:extLst>
              <a:ext uri="{FF2B5EF4-FFF2-40B4-BE49-F238E27FC236}">
                <a16:creationId xmlns:a16="http://schemas.microsoft.com/office/drawing/2014/main" id="{680B8728-FDEA-9CE8-9CDB-04227BD3C38B}"/>
              </a:ext>
            </a:extLst>
          </p:cNvPr>
          <p:cNvSpPr>
            <a:spLocks noGrp="1"/>
          </p:cNvSpPr>
          <p:nvPr>
            <p:ph idx="1"/>
          </p:nvPr>
        </p:nvSpPr>
        <p:spPr>
          <a:xfrm>
            <a:off x="1278645" y="1549112"/>
            <a:ext cx="10233800" cy="4599440"/>
          </a:xfrm>
        </p:spPr>
        <p:txBody>
          <a:bodyPr>
            <a:normAutofit fontScale="92500" lnSpcReduction="10000"/>
          </a:bodyPr>
          <a:lstStyle/>
          <a:p>
            <a:pPr>
              <a:buFont typeface="Wingdings" panose="05000000000000000000" pitchFamily="2" charset="2"/>
              <a:buChar char="§"/>
            </a:pPr>
            <a:r>
              <a:rPr lang="en-US" sz="4000" dirty="0"/>
              <a:t>What is Public Key Infrastructure or PKI?</a:t>
            </a:r>
          </a:p>
          <a:p>
            <a:pPr>
              <a:buFont typeface="Wingdings" panose="05000000000000000000" pitchFamily="2" charset="2"/>
              <a:buChar char="§"/>
            </a:pPr>
            <a:r>
              <a:rPr lang="en-US" sz="4000" dirty="0"/>
              <a:t>What is Symmetric encryption?</a:t>
            </a:r>
          </a:p>
          <a:p>
            <a:pPr>
              <a:buFont typeface="Wingdings" panose="05000000000000000000" pitchFamily="2" charset="2"/>
              <a:buChar char="§"/>
            </a:pPr>
            <a:r>
              <a:rPr lang="en-US" sz="4000" dirty="0"/>
              <a:t>What is Asymmetric encryption?</a:t>
            </a:r>
          </a:p>
          <a:p>
            <a:pPr>
              <a:buFont typeface="Wingdings" panose="05000000000000000000" pitchFamily="2" charset="2"/>
              <a:buChar char="§"/>
            </a:pPr>
            <a:r>
              <a:rPr lang="en-US" sz="4000" dirty="0"/>
              <a:t>Keys sharing issue.</a:t>
            </a:r>
          </a:p>
          <a:p>
            <a:pPr>
              <a:buFont typeface="Wingdings" panose="05000000000000000000" pitchFamily="2" charset="2"/>
              <a:buChar char="§"/>
            </a:pPr>
            <a:r>
              <a:rPr lang="en-US" sz="4000" dirty="0"/>
              <a:t>The problem PKI solves.</a:t>
            </a:r>
          </a:p>
          <a:p>
            <a:pPr>
              <a:buFont typeface="Wingdings" panose="05000000000000000000" pitchFamily="2" charset="2"/>
              <a:buChar char="§"/>
            </a:pPr>
            <a:r>
              <a:rPr lang="en-US" sz="4000" dirty="0"/>
              <a:t>What is certificate authorities or CA.</a:t>
            </a:r>
          </a:p>
          <a:p>
            <a:pPr>
              <a:buFont typeface="Wingdings" panose="05000000000000000000" pitchFamily="2" charset="2"/>
              <a:buChar char="§"/>
            </a:pPr>
            <a:r>
              <a:rPr lang="en-US" sz="4000" dirty="0"/>
              <a:t>The Role of digital certificates in PKI.</a:t>
            </a:r>
          </a:p>
          <a:p>
            <a:pPr>
              <a:buFont typeface="Wingdings" panose="05000000000000000000" pitchFamily="2" charset="2"/>
              <a:buChar char="§"/>
            </a:pPr>
            <a:r>
              <a:rPr lang="en-US" sz="4000" dirty="0"/>
              <a:t>How the certificate creation process works.</a:t>
            </a:r>
          </a:p>
          <a:p>
            <a:pPr>
              <a:buFont typeface="Wingdings" panose="05000000000000000000" pitchFamily="2" charset="2"/>
              <a:buChar char="§"/>
            </a:pPr>
            <a:endParaRPr lang="en-US" sz="4000" dirty="0"/>
          </a:p>
          <a:p>
            <a:pPr marL="0" indent="0">
              <a:buNone/>
            </a:pPr>
            <a:endParaRPr lang="en-US" dirty="0"/>
          </a:p>
        </p:txBody>
      </p:sp>
    </p:spTree>
    <p:extLst>
      <p:ext uri="{BB962C8B-B14F-4D97-AF65-F5344CB8AC3E}">
        <p14:creationId xmlns:p14="http://schemas.microsoft.com/office/powerpoint/2010/main" val="1616138102"/>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AF378-CC37-107E-7314-6F07B2F2471F}"/>
              </a:ext>
            </a:extLst>
          </p:cNvPr>
          <p:cNvSpPr>
            <a:spLocks noGrp="1"/>
          </p:cNvSpPr>
          <p:nvPr>
            <p:ph type="title"/>
          </p:nvPr>
        </p:nvSpPr>
        <p:spPr>
          <a:xfrm>
            <a:off x="720283" y="1254891"/>
            <a:ext cx="10515600" cy="1325563"/>
          </a:xfrm>
        </p:spPr>
        <p:txBody>
          <a:bodyPr>
            <a:normAutofit/>
          </a:bodyPr>
          <a:lstStyle/>
          <a:p>
            <a:r>
              <a:rPr lang="en-US" sz="4500" b="1" dirty="0"/>
              <a:t>What is Public Key Infrastructure or PKI?</a:t>
            </a:r>
          </a:p>
        </p:txBody>
      </p:sp>
      <p:sp>
        <p:nvSpPr>
          <p:cNvPr id="3" name="Content Placeholder 2">
            <a:extLst>
              <a:ext uri="{FF2B5EF4-FFF2-40B4-BE49-F238E27FC236}">
                <a16:creationId xmlns:a16="http://schemas.microsoft.com/office/drawing/2014/main" id="{61304074-1487-0B12-CBBC-49A86B26F81F}"/>
              </a:ext>
            </a:extLst>
          </p:cNvPr>
          <p:cNvSpPr>
            <a:spLocks noGrp="1"/>
          </p:cNvSpPr>
          <p:nvPr>
            <p:ph idx="1"/>
          </p:nvPr>
        </p:nvSpPr>
        <p:spPr>
          <a:xfrm>
            <a:off x="720283" y="2580454"/>
            <a:ext cx="10751434" cy="2967092"/>
          </a:xfrm>
        </p:spPr>
        <p:txBody>
          <a:bodyPr/>
          <a:lstStyle/>
          <a:p>
            <a:pPr marL="0" indent="0">
              <a:buNone/>
            </a:pPr>
            <a:r>
              <a:rPr lang="en-US" dirty="0"/>
              <a:t>PKI is a comprehensive framework of hardware, software, and procedures that manages digital certificates, enabling secure online communication and verifying identities through public key cryptography. It uses public and private key pairs, issuing digital certificates to bind public keys to specific users or devices, ensuring data confidentiality, integrity, and authenticity for activities like HTTPS, secure email, and VPNs, creating a trusted digital environment. </a:t>
            </a:r>
          </a:p>
        </p:txBody>
      </p:sp>
    </p:spTree>
    <p:extLst>
      <p:ext uri="{BB962C8B-B14F-4D97-AF65-F5344CB8AC3E}">
        <p14:creationId xmlns:p14="http://schemas.microsoft.com/office/powerpoint/2010/main" val="223372466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A0C11-98E3-6ACA-35B1-04FEF78D8A30}"/>
              </a:ext>
            </a:extLst>
          </p:cNvPr>
          <p:cNvSpPr>
            <a:spLocks noGrp="1"/>
          </p:cNvSpPr>
          <p:nvPr>
            <p:ph type="title"/>
          </p:nvPr>
        </p:nvSpPr>
        <p:spPr>
          <a:xfrm>
            <a:off x="1119998" y="365125"/>
            <a:ext cx="10233801" cy="1325563"/>
          </a:xfrm>
        </p:spPr>
        <p:txBody>
          <a:bodyPr>
            <a:normAutofit/>
          </a:bodyPr>
          <a:lstStyle/>
          <a:p>
            <a:pPr algn="ctr"/>
            <a:r>
              <a:rPr lang="en-US" sz="4500" b="1" dirty="0"/>
              <a:t>What is Symmetric encryption?</a:t>
            </a:r>
          </a:p>
        </p:txBody>
      </p:sp>
      <p:sp>
        <p:nvSpPr>
          <p:cNvPr id="3" name="Content Placeholder 2">
            <a:extLst>
              <a:ext uri="{FF2B5EF4-FFF2-40B4-BE49-F238E27FC236}">
                <a16:creationId xmlns:a16="http://schemas.microsoft.com/office/drawing/2014/main" id="{7B07FD4B-F3CA-2795-DC55-7B589A57B09F}"/>
              </a:ext>
            </a:extLst>
          </p:cNvPr>
          <p:cNvSpPr>
            <a:spLocks noGrp="1"/>
          </p:cNvSpPr>
          <p:nvPr>
            <p:ph idx="1"/>
          </p:nvPr>
        </p:nvSpPr>
        <p:spPr>
          <a:xfrm>
            <a:off x="979100" y="1273831"/>
            <a:ext cx="10233800" cy="1325563"/>
          </a:xfrm>
        </p:spPr>
        <p:txBody>
          <a:bodyPr/>
          <a:lstStyle/>
          <a:p>
            <a:pPr marL="0" indent="0">
              <a:buNone/>
            </a:pPr>
            <a:r>
              <a:rPr lang="en-US" dirty="0"/>
              <a:t>Symmetric encryption uses a one </a:t>
            </a:r>
            <a:r>
              <a:rPr lang="en-US" b="1" dirty="0"/>
              <a:t>single key</a:t>
            </a:r>
            <a:r>
              <a:rPr lang="en-US" dirty="0"/>
              <a:t> for both encryption and decryption of data, making it fast and efficient for protecting large amounts of information, like full disk encryption or secure big files.</a:t>
            </a:r>
          </a:p>
        </p:txBody>
      </p:sp>
      <p:sp>
        <p:nvSpPr>
          <p:cNvPr id="8" name="Rectangle: Rounded Corners 7">
            <a:extLst>
              <a:ext uri="{FF2B5EF4-FFF2-40B4-BE49-F238E27FC236}">
                <a16:creationId xmlns:a16="http://schemas.microsoft.com/office/drawing/2014/main" id="{2A79B6EA-45BE-9C7A-E710-83986B08590E}"/>
              </a:ext>
            </a:extLst>
          </p:cNvPr>
          <p:cNvSpPr/>
          <p:nvPr/>
        </p:nvSpPr>
        <p:spPr>
          <a:xfrm>
            <a:off x="1532700" y="2599394"/>
            <a:ext cx="9126599" cy="4033454"/>
          </a:xfrm>
          <a:prstGeom prst="roundRect">
            <a:avLst>
              <a:gd name="adj" fmla="val 6114"/>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385344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5BB8A-8951-394D-FD06-7323E9815F41}"/>
              </a:ext>
            </a:extLst>
          </p:cNvPr>
          <p:cNvSpPr>
            <a:spLocks noGrp="1"/>
          </p:cNvSpPr>
          <p:nvPr>
            <p:ph type="title"/>
          </p:nvPr>
        </p:nvSpPr>
        <p:spPr>
          <a:xfrm>
            <a:off x="1120000" y="113177"/>
            <a:ext cx="10233800" cy="1325563"/>
          </a:xfrm>
        </p:spPr>
        <p:txBody>
          <a:bodyPr>
            <a:normAutofit/>
          </a:bodyPr>
          <a:lstStyle/>
          <a:p>
            <a:pPr algn="ctr"/>
            <a:r>
              <a:rPr lang="en-US" sz="4500" b="1" dirty="0"/>
              <a:t>What is Asymmetric encryption?</a:t>
            </a:r>
          </a:p>
        </p:txBody>
      </p:sp>
      <p:sp>
        <p:nvSpPr>
          <p:cNvPr id="3" name="Content Placeholder 2">
            <a:extLst>
              <a:ext uri="{FF2B5EF4-FFF2-40B4-BE49-F238E27FC236}">
                <a16:creationId xmlns:a16="http://schemas.microsoft.com/office/drawing/2014/main" id="{240EC5FA-6CC1-B17F-9143-355E50023473}"/>
              </a:ext>
            </a:extLst>
          </p:cNvPr>
          <p:cNvSpPr>
            <a:spLocks noGrp="1"/>
          </p:cNvSpPr>
          <p:nvPr>
            <p:ph idx="1"/>
          </p:nvPr>
        </p:nvSpPr>
        <p:spPr>
          <a:xfrm>
            <a:off x="444061" y="1068882"/>
            <a:ext cx="11303876" cy="1768612"/>
          </a:xfrm>
        </p:spPr>
        <p:txBody>
          <a:bodyPr/>
          <a:lstStyle/>
          <a:p>
            <a:pPr marL="0" indent="0">
              <a:buNone/>
            </a:pPr>
            <a:r>
              <a:rPr lang="en-US" dirty="0"/>
              <a:t>Asymmetric encryption uses a two pair of keys, a public key and a private key. Allowing us secure data transmission, information encrypt with a public key, but only be decrypt with corresponding private key. This system enables secure communication without needing to share a secret key.</a:t>
            </a:r>
          </a:p>
        </p:txBody>
      </p:sp>
      <p:sp>
        <p:nvSpPr>
          <p:cNvPr id="4" name="Rectangle: Rounded Corners 3">
            <a:extLst>
              <a:ext uri="{FF2B5EF4-FFF2-40B4-BE49-F238E27FC236}">
                <a16:creationId xmlns:a16="http://schemas.microsoft.com/office/drawing/2014/main" id="{E1821C12-D24F-2417-3749-8500D3C32589}"/>
              </a:ext>
            </a:extLst>
          </p:cNvPr>
          <p:cNvSpPr/>
          <p:nvPr/>
        </p:nvSpPr>
        <p:spPr>
          <a:xfrm>
            <a:off x="1532700" y="2711369"/>
            <a:ext cx="9126599" cy="4033454"/>
          </a:xfrm>
          <a:prstGeom prst="roundRect">
            <a:avLst>
              <a:gd name="adj" fmla="val 6114"/>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30139"/>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426F53-294C-A64A-1BA2-C77FE4B9E518}"/>
              </a:ext>
            </a:extLst>
          </p:cNvPr>
          <p:cNvSpPr>
            <a:spLocks noGrp="1"/>
          </p:cNvSpPr>
          <p:nvPr>
            <p:ph idx="1"/>
          </p:nvPr>
        </p:nvSpPr>
        <p:spPr>
          <a:xfrm>
            <a:off x="358001" y="2112579"/>
            <a:ext cx="5265034" cy="4508938"/>
          </a:xfrm>
        </p:spPr>
        <p:txBody>
          <a:bodyPr>
            <a:normAutofit fontScale="77500" lnSpcReduction="20000"/>
          </a:bodyPr>
          <a:lstStyle/>
          <a:p>
            <a:pPr marL="0" indent="0">
              <a:buNone/>
            </a:pPr>
            <a:r>
              <a:rPr lang="en-US" dirty="0"/>
              <a:t>-----BEGIN PRIVATE KEY-----</a:t>
            </a:r>
          </a:p>
          <a:p>
            <a:pPr marL="0" indent="0">
              <a:buNone/>
            </a:pPr>
            <a:r>
              <a:rPr lang="en-US" dirty="0"/>
              <a:t>MIIEvQIBADANBgkqhkiG9w0BAQEFAASCBKcwggSjAgEAAoIBAQCwan9oIZ3W+M4A</a:t>
            </a:r>
          </a:p>
          <a:p>
            <a:pPr marL="0" indent="0">
              <a:buNone/>
            </a:pPr>
            <a:r>
              <a:rPr lang="en-US" dirty="0"/>
              <a:t>fbRUDhH3nh8MVj63rAhbGXnBCOcFjVXvxPp1/EMbAkt5VRu9GyvHYWGIxPp2Dj8c</a:t>
            </a:r>
          </a:p>
          <a:p>
            <a:pPr marL="0" indent="0">
              <a:buNone/>
            </a:pPr>
            <a:r>
              <a:rPr lang="en-US" dirty="0"/>
              <a:t>Ofwd3ufUKqWbwCkNA7rLzp9a3x87fCvRVArk8ahovwwHD6r+WOav9l2KPP8l3hQZ</a:t>
            </a:r>
          </a:p>
          <a:p>
            <a:pPr marL="0" indent="0">
              <a:buNone/>
            </a:pPr>
            <a:r>
              <a:rPr lang="en-US" dirty="0"/>
              <a:t>[ REDACTED]</a:t>
            </a:r>
          </a:p>
          <a:p>
            <a:pPr marL="0" indent="0">
              <a:buNone/>
            </a:pPr>
            <a:r>
              <a:rPr lang="en-US" dirty="0" err="1"/>
              <a:t>GnZ+FGPlTvSj</a:t>
            </a:r>
            <a:r>
              <a:rPr lang="en-US" dirty="0"/>
              <a:t>/Bit8BGGVCr2dd1ewRzEERCMzHZTuHMhs8b3Om837dZt9IP7rWV5</a:t>
            </a:r>
          </a:p>
          <a:p>
            <a:pPr marL="0" indent="0">
              <a:buNone/>
            </a:pPr>
            <a:r>
              <a:rPr lang="en-US" dirty="0"/>
              <a:t>44tjfpZJd+Aw19SO/3V6OOhWOLpbAnEVVZSZsxVa+ErfIFmAg/M3QCGUyvb77E/L</a:t>
            </a:r>
          </a:p>
          <a:p>
            <a:pPr marL="0" indent="0">
              <a:buNone/>
            </a:pPr>
            <a:r>
              <a:rPr lang="en-US" dirty="0"/>
              <a:t>4rI+54eyZaS3UJgRaifKNII=</a:t>
            </a:r>
          </a:p>
          <a:p>
            <a:pPr marL="0" indent="0">
              <a:buNone/>
            </a:pPr>
            <a:r>
              <a:rPr lang="en-US" dirty="0"/>
              <a:t>-----END PRIVATE KEY-----</a:t>
            </a:r>
          </a:p>
        </p:txBody>
      </p:sp>
      <p:sp>
        <p:nvSpPr>
          <p:cNvPr id="4" name="Content Placeholder 2">
            <a:extLst>
              <a:ext uri="{FF2B5EF4-FFF2-40B4-BE49-F238E27FC236}">
                <a16:creationId xmlns:a16="http://schemas.microsoft.com/office/drawing/2014/main" id="{6733C79C-F7B9-7EA1-600D-44546D8A4B52}"/>
              </a:ext>
            </a:extLst>
          </p:cNvPr>
          <p:cNvSpPr txBox="1">
            <a:spLocks/>
          </p:cNvSpPr>
          <p:nvPr/>
        </p:nvSpPr>
        <p:spPr>
          <a:xfrm>
            <a:off x="6568965" y="2112579"/>
            <a:ext cx="5265034" cy="4887310"/>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13000"/>
                        <a:lumOff val="87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-----BEGIN PUBLIC KEY-----</a:t>
            </a:r>
          </a:p>
          <a:p>
            <a:pPr marL="0" indent="0">
              <a:buNone/>
            </a:pPr>
            <a:r>
              <a:rPr lang="en-US" dirty="0"/>
              <a:t>MIIBIjANBgkqhkiG9w0BAQEFAAOCAQ8AMIIBCgKCAQEAsGp/aCGd1vjOAH20VA4R</a:t>
            </a:r>
          </a:p>
          <a:p>
            <a:pPr marL="0" indent="0">
              <a:buNone/>
            </a:pPr>
            <a:r>
              <a:rPr lang="en-US" dirty="0"/>
              <a:t>954fDFY+t6wIWxl5wQjnBY1V78T6dfxDGwJLeVUbvRsrx2FhiMT6dg4/HDn8Hd7n</a:t>
            </a:r>
          </a:p>
          <a:p>
            <a:pPr marL="0" indent="0">
              <a:buNone/>
            </a:pPr>
            <a:r>
              <a:rPr lang="en-US" dirty="0"/>
              <a:t>1Cqlm8ApDQO6y86fWt8fO3wr0VQK5PGoaL8MBw+q/</a:t>
            </a:r>
            <a:r>
              <a:rPr lang="en-US" dirty="0" err="1"/>
              <a:t>ljmr</a:t>
            </a:r>
            <a:r>
              <a:rPr lang="en-US" dirty="0"/>
              <a:t>/</a:t>
            </a:r>
            <a:r>
              <a:rPr lang="en-US" dirty="0" err="1"/>
              <a:t>Zdijz</a:t>
            </a:r>
            <a:r>
              <a:rPr lang="en-US" dirty="0"/>
              <a:t>/Jd4UGbyPZiGW</a:t>
            </a:r>
          </a:p>
          <a:p>
            <a:pPr marL="0" indent="0">
              <a:buNone/>
            </a:pPr>
            <a:r>
              <a:rPr lang="en-US" dirty="0"/>
              <a:t>Z9VmbYUMW9vOY9r1Xw2/ZFLYJwBBwUWR+GxMo2sd0j2bQ2sMNBfITN30Ed+j3qEz</a:t>
            </a:r>
          </a:p>
          <a:p>
            <a:pPr marL="0" indent="0">
              <a:buNone/>
            </a:pPr>
            <a:r>
              <a:rPr lang="en-US" dirty="0"/>
              <a:t>+tPYvMMFXmVhIaypp+1myjDwyKC4UOL9fFq8mL5fYhgPcwcpq4kNSEXqLD+PCZos</a:t>
            </a:r>
          </a:p>
          <a:p>
            <a:pPr marL="0" indent="0">
              <a:buNone/>
            </a:pPr>
            <a:r>
              <a:rPr lang="en-US" dirty="0"/>
              <a:t>Yhqq4oQImeehbjLNFZgxehctO0mXbeK1slJK7nF1nCprjHsE3zqVX1RI0PKn6ZGd</a:t>
            </a:r>
          </a:p>
          <a:p>
            <a:pPr marL="0" indent="0">
              <a:buNone/>
            </a:pPr>
            <a:r>
              <a:rPr lang="en-US" dirty="0"/>
              <a:t>-----END PUBLIC KEY-----</a:t>
            </a:r>
          </a:p>
          <a:p>
            <a:pPr marL="0" indent="0">
              <a:buNone/>
            </a:pPr>
            <a:endParaRPr lang="en-US" dirty="0"/>
          </a:p>
        </p:txBody>
      </p:sp>
      <p:sp>
        <p:nvSpPr>
          <p:cNvPr id="5" name="TextBox 4">
            <a:extLst>
              <a:ext uri="{FF2B5EF4-FFF2-40B4-BE49-F238E27FC236}">
                <a16:creationId xmlns:a16="http://schemas.microsoft.com/office/drawing/2014/main" id="{326EBFCD-663D-61B0-C7B2-872C4A866D7B}"/>
              </a:ext>
            </a:extLst>
          </p:cNvPr>
          <p:cNvSpPr txBox="1"/>
          <p:nvPr/>
        </p:nvSpPr>
        <p:spPr>
          <a:xfrm>
            <a:off x="-55180" y="1182414"/>
            <a:ext cx="11114690" cy="707886"/>
          </a:xfrm>
          <a:prstGeom prst="rect">
            <a:avLst/>
          </a:prstGeom>
          <a:noFill/>
        </p:spPr>
        <p:txBody>
          <a:bodyPr wrap="square" rtlCol="0">
            <a:spAutoFit/>
          </a:bodyPr>
          <a:lstStyle/>
          <a:p>
            <a:pPr algn="ctr"/>
            <a:r>
              <a:rPr lang="en-US" sz="4000" b="1" dirty="0"/>
              <a:t>How Asymmetric private/public keys looks like</a:t>
            </a:r>
          </a:p>
        </p:txBody>
      </p:sp>
    </p:spTree>
    <p:extLst>
      <p:ext uri="{BB962C8B-B14F-4D97-AF65-F5344CB8AC3E}">
        <p14:creationId xmlns:p14="http://schemas.microsoft.com/office/powerpoint/2010/main" val="946899827"/>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67627-553A-CA29-A43D-35C80F478FA7}"/>
              </a:ext>
            </a:extLst>
          </p:cNvPr>
          <p:cNvSpPr>
            <a:spLocks noGrp="1"/>
          </p:cNvSpPr>
          <p:nvPr>
            <p:ph type="title"/>
          </p:nvPr>
        </p:nvSpPr>
        <p:spPr>
          <a:xfrm>
            <a:off x="1105226" y="365124"/>
            <a:ext cx="10233801" cy="1325563"/>
          </a:xfrm>
        </p:spPr>
        <p:txBody>
          <a:bodyPr>
            <a:normAutofit/>
          </a:bodyPr>
          <a:lstStyle/>
          <a:p>
            <a:pPr algn="ctr"/>
            <a:r>
              <a:rPr lang="en-US" sz="4500" b="1" dirty="0"/>
              <a:t>Keys sharing issue.</a:t>
            </a:r>
          </a:p>
        </p:txBody>
      </p:sp>
      <p:sp>
        <p:nvSpPr>
          <p:cNvPr id="3" name="Content Placeholder 2">
            <a:extLst>
              <a:ext uri="{FF2B5EF4-FFF2-40B4-BE49-F238E27FC236}">
                <a16:creationId xmlns:a16="http://schemas.microsoft.com/office/drawing/2014/main" id="{5D56ADEA-8732-518D-3C77-58D5F7C4633C}"/>
              </a:ext>
            </a:extLst>
          </p:cNvPr>
          <p:cNvSpPr>
            <a:spLocks noGrp="1"/>
          </p:cNvSpPr>
          <p:nvPr>
            <p:ph idx="1"/>
          </p:nvPr>
        </p:nvSpPr>
        <p:spPr>
          <a:xfrm>
            <a:off x="1245954" y="1239782"/>
            <a:ext cx="10233800" cy="901809"/>
          </a:xfrm>
        </p:spPr>
        <p:txBody>
          <a:bodyPr/>
          <a:lstStyle/>
          <a:p>
            <a:pPr marL="0" indent="0">
              <a:buNone/>
            </a:pPr>
            <a:r>
              <a:rPr lang="en-US" dirty="0"/>
              <a:t>what if hacker intercepted the key exchange flow. He will replace the public keys for “Shoaib” and “Subhan”.   </a:t>
            </a:r>
          </a:p>
        </p:txBody>
      </p:sp>
      <p:pic>
        <p:nvPicPr>
          <p:cNvPr id="9" name="Picture 8">
            <a:extLst>
              <a:ext uri="{FF2B5EF4-FFF2-40B4-BE49-F238E27FC236}">
                <a16:creationId xmlns:a16="http://schemas.microsoft.com/office/drawing/2014/main" id="{8CF76B35-4C4A-5984-216B-EC9A0E4A6F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033" y="2993370"/>
            <a:ext cx="1314287" cy="1452947"/>
          </a:xfrm>
          <a:prstGeom prst="rect">
            <a:avLst/>
          </a:prstGeom>
        </p:spPr>
      </p:pic>
      <p:sp>
        <p:nvSpPr>
          <p:cNvPr id="10" name="TextBox 9">
            <a:extLst>
              <a:ext uri="{FF2B5EF4-FFF2-40B4-BE49-F238E27FC236}">
                <a16:creationId xmlns:a16="http://schemas.microsoft.com/office/drawing/2014/main" id="{B3A1D38C-2A53-6F3F-B4A3-DF1369EF51B3}"/>
              </a:ext>
            </a:extLst>
          </p:cNvPr>
          <p:cNvSpPr txBox="1"/>
          <p:nvPr/>
        </p:nvSpPr>
        <p:spPr>
          <a:xfrm>
            <a:off x="432853" y="4446317"/>
            <a:ext cx="2081048" cy="400110"/>
          </a:xfrm>
          <a:prstGeom prst="rect">
            <a:avLst/>
          </a:prstGeom>
          <a:noFill/>
        </p:spPr>
        <p:txBody>
          <a:bodyPr wrap="square" rtlCol="0">
            <a:spAutoFit/>
          </a:bodyPr>
          <a:lstStyle/>
          <a:p>
            <a:pPr algn="ctr"/>
            <a:r>
              <a:rPr lang="en-US" sz="2000" dirty="0"/>
              <a:t>Shoaib (Toronto)</a:t>
            </a:r>
          </a:p>
        </p:txBody>
      </p:sp>
      <p:pic>
        <p:nvPicPr>
          <p:cNvPr id="12" name="Picture 11">
            <a:extLst>
              <a:ext uri="{FF2B5EF4-FFF2-40B4-BE49-F238E27FC236}">
                <a16:creationId xmlns:a16="http://schemas.microsoft.com/office/drawing/2014/main" id="{E74F2FAB-9846-EB1D-AC22-53061AFB79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0354" y="2993370"/>
            <a:ext cx="1314287" cy="1452947"/>
          </a:xfrm>
          <a:prstGeom prst="rect">
            <a:avLst/>
          </a:prstGeom>
        </p:spPr>
      </p:pic>
      <p:sp>
        <p:nvSpPr>
          <p:cNvPr id="13" name="TextBox 12">
            <a:extLst>
              <a:ext uri="{FF2B5EF4-FFF2-40B4-BE49-F238E27FC236}">
                <a16:creationId xmlns:a16="http://schemas.microsoft.com/office/drawing/2014/main" id="{67F17938-DB56-C759-6F81-2EC2BF4C257F}"/>
              </a:ext>
            </a:extLst>
          </p:cNvPr>
          <p:cNvSpPr txBox="1"/>
          <p:nvPr/>
        </p:nvSpPr>
        <p:spPr>
          <a:xfrm>
            <a:off x="9930354" y="4446317"/>
            <a:ext cx="1621305" cy="400110"/>
          </a:xfrm>
          <a:prstGeom prst="rect">
            <a:avLst/>
          </a:prstGeom>
          <a:noFill/>
        </p:spPr>
        <p:txBody>
          <a:bodyPr wrap="square" rtlCol="0">
            <a:spAutoFit/>
          </a:bodyPr>
          <a:lstStyle/>
          <a:p>
            <a:r>
              <a:rPr lang="en-US" sz="2000" dirty="0"/>
              <a:t>Subhan (ISB)</a:t>
            </a:r>
          </a:p>
        </p:txBody>
      </p:sp>
      <p:pic>
        <p:nvPicPr>
          <p:cNvPr id="15" name="Picture 14">
            <a:extLst>
              <a:ext uri="{FF2B5EF4-FFF2-40B4-BE49-F238E27FC236}">
                <a16:creationId xmlns:a16="http://schemas.microsoft.com/office/drawing/2014/main" id="{56DF05B7-B1E8-D30D-9A41-1C0AF814C2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5338" y="4646372"/>
            <a:ext cx="1073579" cy="1092346"/>
          </a:xfrm>
          <a:prstGeom prst="rect">
            <a:avLst/>
          </a:prstGeom>
        </p:spPr>
      </p:pic>
      <p:sp>
        <p:nvSpPr>
          <p:cNvPr id="16" name="TextBox 15">
            <a:extLst>
              <a:ext uri="{FF2B5EF4-FFF2-40B4-BE49-F238E27FC236}">
                <a16:creationId xmlns:a16="http://schemas.microsoft.com/office/drawing/2014/main" id="{0F1D6121-9CB4-6A9D-6221-5784222D6E2D}"/>
              </a:ext>
            </a:extLst>
          </p:cNvPr>
          <p:cNvSpPr txBox="1"/>
          <p:nvPr/>
        </p:nvSpPr>
        <p:spPr>
          <a:xfrm>
            <a:off x="5826065" y="5709605"/>
            <a:ext cx="1073579" cy="400110"/>
          </a:xfrm>
          <a:prstGeom prst="rect">
            <a:avLst/>
          </a:prstGeom>
          <a:noFill/>
        </p:spPr>
        <p:txBody>
          <a:bodyPr wrap="square" rtlCol="0">
            <a:spAutoFit/>
          </a:bodyPr>
          <a:lstStyle/>
          <a:p>
            <a:r>
              <a:rPr lang="en-US" sz="2000" dirty="0"/>
              <a:t>Hacker</a:t>
            </a:r>
          </a:p>
        </p:txBody>
      </p:sp>
      <p:cxnSp>
        <p:nvCxnSpPr>
          <p:cNvPr id="18" name="Straight Arrow Connector 17">
            <a:extLst>
              <a:ext uri="{FF2B5EF4-FFF2-40B4-BE49-F238E27FC236}">
                <a16:creationId xmlns:a16="http://schemas.microsoft.com/office/drawing/2014/main" id="{A59A4604-1E6F-66B1-71A3-4621E769BFEA}"/>
              </a:ext>
            </a:extLst>
          </p:cNvPr>
          <p:cNvCxnSpPr>
            <a:cxnSpLocks/>
            <a:stCxn id="9" idx="3"/>
          </p:cNvCxnSpPr>
          <p:nvPr/>
        </p:nvCxnSpPr>
        <p:spPr>
          <a:xfrm>
            <a:off x="2068320" y="3719844"/>
            <a:ext cx="3440461" cy="1167573"/>
          </a:xfrm>
          <a:prstGeom prst="straightConnector1">
            <a:avLst/>
          </a:prstGeom>
          <a:ln w="57150">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11CCD138-5D9D-2BF5-CD2C-F76D14026559}"/>
              </a:ext>
            </a:extLst>
          </p:cNvPr>
          <p:cNvSpPr txBox="1"/>
          <p:nvPr/>
        </p:nvSpPr>
        <p:spPr>
          <a:xfrm rot="1036858">
            <a:off x="2698865" y="3878751"/>
            <a:ext cx="2081048" cy="400110"/>
          </a:xfrm>
          <a:prstGeom prst="rect">
            <a:avLst/>
          </a:prstGeom>
          <a:noFill/>
        </p:spPr>
        <p:txBody>
          <a:bodyPr wrap="square" rtlCol="0">
            <a:spAutoFit/>
          </a:bodyPr>
          <a:lstStyle/>
          <a:p>
            <a:pPr algn="ctr"/>
            <a:r>
              <a:rPr lang="en-US" sz="2000" dirty="0"/>
              <a:t>Sent Public Key</a:t>
            </a:r>
          </a:p>
        </p:txBody>
      </p:sp>
      <p:cxnSp>
        <p:nvCxnSpPr>
          <p:cNvPr id="20" name="Straight Arrow Connector 19">
            <a:extLst>
              <a:ext uri="{FF2B5EF4-FFF2-40B4-BE49-F238E27FC236}">
                <a16:creationId xmlns:a16="http://schemas.microsoft.com/office/drawing/2014/main" id="{2055082D-8066-68FC-E3C9-4ED1EDCB85CE}"/>
              </a:ext>
            </a:extLst>
          </p:cNvPr>
          <p:cNvCxnSpPr>
            <a:cxnSpLocks/>
          </p:cNvCxnSpPr>
          <p:nvPr/>
        </p:nvCxnSpPr>
        <p:spPr>
          <a:xfrm flipV="1">
            <a:off x="6732142" y="3720647"/>
            <a:ext cx="3280416" cy="1166770"/>
          </a:xfrm>
          <a:prstGeom prst="straightConnector1">
            <a:avLst/>
          </a:prstGeom>
          <a:ln w="57150">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63784E7A-864B-23EE-4FAF-4DAD21E7BAAF}"/>
              </a:ext>
            </a:extLst>
          </p:cNvPr>
          <p:cNvSpPr txBox="1"/>
          <p:nvPr/>
        </p:nvSpPr>
        <p:spPr>
          <a:xfrm rot="20475186">
            <a:off x="7101145" y="3924151"/>
            <a:ext cx="2326182" cy="400110"/>
          </a:xfrm>
          <a:prstGeom prst="rect">
            <a:avLst/>
          </a:prstGeom>
          <a:noFill/>
        </p:spPr>
        <p:txBody>
          <a:bodyPr wrap="square" rtlCol="0">
            <a:spAutoFit/>
          </a:bodyPr>
          <a:lstStyle/>
          <a:p>
            <a:pPr algn="ctr"/>
            <a:r>
              <a:rPr lang="en-US" sz="2000" dirty="0"/>
              <a:t>Replaced Public Key</a:t>
            </a:r>
          </a:p>
        </p:txBody>
      </p:sp>
      <p:cxnSp>
        <p:nvCxnSpPr>
          <p:cNvPr id="23" name="Straight Arrow Connector 22">
            <a:extLst>
              <a:ext uri="{FF2B5EF4-FFF2-40B4-BE49-F238E27FC236}">
                <a16:creationId xmlns:a16="http://schemas.microsoft.com/office/drawing/2014/main" id="{8549CDE9-93C6-081E-A8ED-7EA253FA688A}"/>
              </a:ext>
            </a:extLst>
          </p:cNvPr>
          <p:cNvCxnSpPr>
            <a:cxnSpLocks/>
          </p:cNvCxnSpPr>
          <p:nvPr/>
        </p:nvCxnSpPr>
        <p:spPr>
          <a:xfrm flipH="1" flipV="1">
            <a:off x="2005700" y="4405327"/>
            <a:ext cx="3542917" cy="1162963"/>
          </a:xfrm>
          <a:prstGeom prst="straightConnector1">
            <a:avLst/>
          </a:prstGeom>
          <a:ln w="57150">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42B0D2CA-2E03-4A93-0EDA-41C391A64C14}"/>
              </a:ext>
            </a:extLst>
          </p:cNvPr>
          <p:cNvSpPr txBox="1"/>
          <p:nvPr/>
        </p:nvSpPr>
        <p:spPr>
          <a:xfrm rot="1099288">
            <a:off x="2312627" y="4614605"/>
            <a:ext cx="3183662" cy="400110"/>
          </a:xfrm>
          <a:prstGeom prst="rect">
            <a:avLst/>
          </a:prstGeom>
          <a:noFill/>
        </p:spPr>
        <p:txBody>
          <a:bodyPr wrap="square" rtlCol="0">
            <a:spAutoFit/>
          </a:bodyPr>
          <a:lstStyle/>
          <a:p>
            <a:pPr algn="ctr"/>
            <a:r>
              <a:rPr lang="en-US" sz="2000" dirty="0"/>
              <a:t>Received Hacker Public Key</a:t>
            </a:r>
          </a:p>
        </p:txBody>
      </p:sp>
      <p:cxnSp>
        <p:nvCxnSpPr>
          <p:cNvPr id="29" name="Straight Arrow Connector 28">
            <a:extLst>
              <a:ext uri="{FF2B5EF4-FFF2-40B4-BE49-F238E27FC236}">
                <a16:creationId xmlns:a16="http://schemas.microsoft.com/office/drawing/2014/main" id="{70B79DAE-0CF4-7128-ECC5-5C09A265AA5C}"/>
              </a:ext>
            </a:extLst>
          </p:cNvPr>
          <p:cNvCxnSpPr>
            <a:cxnSpLocks/>
          </p:cNvCxnSpPr>
          <p:nvPr/>
        </p:nvCxnSpPr>
        <p:spPr>
          <a:xfrm flipH="1">
            <a:off x="6802276" y="4273677"/>
            <a:ext cx="3147218" cy="1089657"/>
          </a:xfrm>
          <a:prstGeom prst="straightConnector1">
            <a:avLst/>
          </a:prstGeom>
          <a:ln w="57150">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35AFC204-6202-E664-F235-9913BCE46BFF}"/>
              </a:ext>
            </a:extLst>
          </p:cNvPr>
          <p:cNvSpPr txBox="1"/>
          <p:nvPr/>
        </p:nvSpPr>
        <p:spPr>
          <a:xfrm rot="20475186">
            <a:off x="7251343" y="4386661"/>
            <a:ext cx="2326182" cy="400110"/>
          </a:xfrm>
          <a:prstGeom prst="rect">
            <a:avLst/>
          </a:prstGeom>
          <a:noFill/>
        </p:spPr>
        <p:txBody>
          <a:bodyPr wrap="square" rtlCol="0">
            <a:spAutoFit/>
          </a:bodyPr>
          <a:lstStyle/>
          <a:p>
            <a:pPr algn="ctr"/>
            <a:r>
              <a:rPr lang="en-US" sz="2000" dirty="0"/>
              <a:t>Sent Public Key</a:t>
            </a:r>
          </a:p>
        </p:txBody>
      </p:sp>
    </p:spTree>
    <p:extLst>
      <p:ext uri="{BB962C8B-B14F-4D97-AF65-F5344CB8AC3E}">
        <p14:creationId xmlns:p14="http://schemas.microsoft.com/office/powerpoint/2010/main" val="272511194"/>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EE0E0-449A-36DC-91A1-9498D5B37685}"/>
              </a:ext>
            </a:extLst>
          </p:cNvPr>
          <p:cNvSpPr>
            <a:spLocks noGrp="1"/>
          </p:cNvSpPr>
          <p:nvPr>
            <p:ph type="title"/>
          </p:nvPr>
        </p:nvSpPr>
        <p:spPr>
          <a:xfrm>
            <a:off x="979100" y="1414462"/>
            <a:ext cx="10233801" cy="1325563"/>
          </a:xfrm>
        </p:spPr>
        <p:txBody>
          <a:bodyPr>
            <a:normAutofit/>
          </a:bodyPr>
          <a:lstStyle/>
          <a:p>
            <a:pPr algn="ctr"/>
            <a:r>
              <a:rPr lang="en-US" sz="4500" b="1" dirty="0"/>
              <a:t>The problem PKI solves.</a:t>
            </a:r>
          </a:p>
        </p:txBody>
      </p:sp>
      <p:sp>
        <p:nvSpPr>
          <p:cNvPr id="3" name="Content Placeholder 2">
            <a:extLst>
              <a:ext uri="{FF2B5EF4-FFF2-40B4-BE49-F238E27FC236}">
                <a16:creationId xmlns:a16="http://schemas.microsoft.com/office/drawing/2014/main" id="{88A17286-99F9-97D0-ACCE-59B27F6D7750}"/>
              </a:ext>
            </a:extLst>
          </p:cNvPr>
          <p:cNvSpPr>
            <a:spLocks noGrp="1"/>
          </p:cNvSpPr>
          <p:nvPr>
            <p:ph idx="1"/>
          </p:nvPr>
        </p:nvSpPr>
        <p:spPr>
          <a:xfrm>
            <a:off x="821445" y="2508306"/>
            <a:ext cx="10923866" cy="3219340"/>
          </a:xfrm>
        </p:spPr>
        <p:txBody>
          <a:bodyPr/>
          <a:lstStyle/>
          <a:p>
            <a:pPr marL="0" indent="0">
              <a:buNone/>
            </a:pPr>
            <a:r>
              <a:rPr lang="en-US" dirty="0"/>
              <a:t>PKI resolves this challenge by issuing and governing digital certificates that confirm the identity of people, devices or applications that own private keys and the corresponding public keys. In short, PKI assigns identities to keys so that recipients can accurately verify the owners. This verification gives users confidence that if they send an encrypted message to that person (or device), the intended recipient is the one who will actually read it and not anyone else who may be sitting as a “man in the middle.” </a:t>
            </a:r>
          </a:p>
        </p:txBody>
      </p:sp>
    </p:spTree>
    <p:extLst>
      <p:ext uri="{BB962C8B-B14F-4D97-AF65-F5344CB8AC3E}">
        <p14:creationId xmlns:p14="http://schemas.microsoft.com/office/powerpoint/2010/main" val="3994290316"/>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6CCA2-4CBE-E67F-5E50-9DE73CA04D18}"/>
              </a:ext>
            </a:extLst>
          </p:cNvPr>
          <p:cNvSpPr>
            <a:spLocks noGrp="1"/>
          </p:cNvSpPr>
          <p:nvPr>
            <p:ph type="title"/>
          </p:nvPr>
        </p:nvSpPr>
        <p:spPr>
          <a:xfrm>
            <a:off x="1119998" y="365125"/>
            <a:ext cx="10233801" cy="1325563"/>
          </a:xfrm>
        </p:spPr>
        <p:txBody>
          <a:bodyPr>
            <a:normAutofit/>
          </a:bodyPr>
          <a:lstStyle/>
          <a:p>
            <a:pPr algn="ctr"/>
            <a:r>
              <a:rPr lang="en-US" sz="4500" b="1" dirty="0"/>
              <a:t>What is Certificate Authorities (CA)</a:t>
            </a:r>
            <a:endParaRPr lang="en-US" sz="4500" dirty="0"/>
          </a:p>
        </p:txBody>
      </p:sp>
      <p:sp>
        <p:nvSpPr>
          <p:cNvPr id="3" name="Content Placeholder 2">
            <a:extLst>
              <a:ext uri="{FF2B5EF4-FFF2-40B4-BE49-F238E27FC236}">
                <a16:creationId xmlns:a16="http://schemas.microsoft.com/office/drawing/2014/main" id="{68686349-5F79-5282-02FD-04E88D285AA8}"/>
              </a:ext>
            </a:extLst>
          </p:cNvPr>
          <p:cNvSpPr>
            <a:spLocks noGrp="1"/>
          </p:cNvSpPr>
          <p:nvPr>
            <p:ph idx="1"/>
          </p:nvPr>
        </p:nvSpPr>
        <p:spPr>
          <a:xfrm>
            <a:off x="1119999" y="1478784"/>
            <a:ext cx="10233800" cy="1012168"/>
          </a:xfrm>
        </p:spPr>
        <p:txBody>
          <a:bodyPr/>
          <a:lstStyle/>
          <a:p>
            <a:pPr marL="0" indent="0">
              <a:buNone/>
            </a:pPr>
            <a:r>
              <a:rPr lang="en-US" dirty="0"/>
              <a:t>Certificate Authorities (CAs) are responsible for creating digital certificates and issuing the certificates.</a:t>
            </a:r>
          </a:p>
        </p:txBody>
      </p:sp>
      <p:sp>
        <p:nvSpPr>
          <p:cNvPr id="4" name="Rectangle: Rounded Corners 3">
            <a:extLst>
              <a:ext uri="{FF2B5EF4-FFF2-40B4-BE49-F238E27FC236}">
                <a16:creationId xmlns:a16="http://schemas.microsoft.com/office/drawing/2014/main" id="{EED7F499-9811-AFA6-2521-74CA2B64EF17}"/>
              </a:ext>
            </a:extLst>
          </p:cNvPr>
          <p:cNvSpPr/>
          <p:nvPr/>
        </p:nvSpPr>
        <p:spPr>
          <a:xfrm>
            <a:off x="1532700" y="2490952"/>
            <a:ext cx="9126599" cy="4033454"/>
          </a:xfrm>
          <a:prstGeom prst="roundRect">
            <a:avLst>
              <a:gd name="adj" fmla="val 6114"/>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48344142"/>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E3934-BC17-93DB-52E6-F99CB008ED50}"/>
              </a:ext>
            </a:extLst>
          </p:cNvPr>
          <p:cNvSpPr>
            <a:spLocks noGrp="1"/>
          </p:cNvSpPr>
          <p:nvPr>
            <p:ph type="title"/>
          </p:nvPr>
        </p:nvSpPr>
        <p:spPr>
          <a:xfrm>
            <a:off x="1120000" y="317828"/>
            <a:ext cx="10233800" cy="1325563"/>
          </a:xfrm>
        </p:spPr>
        <p:txBody>
          <a:bodyPr>
            <a:normAutofit/>
          </a:bodyPr>
          <a:lstStyle/>
          <a:p>
            <a:pPr algn="ctr"/>
            <a:r>
              <a:rPr lang="en-US" sz="4500" dirty="0"/>
              <a:t>The Role of Digital Certificates in PKI</a:t>
            </a:r>
          </a:p>
        </p:txBody>
      </p:sp>
      <p:sp>
        <p:nvSpPr>
          <p:cNvPr id="3" name="Content Placeholder 2">
            <a:extLst>
              <a:ext uri="{FF2B5EF4-FFF2-40B4-BE49-F238E27FC236}">
                <a16:creationId xmlns:a16="http://schemas.microsoft.com/office/drawing/2014/main" id="{05B3E00D-F752-4467-9E57-5A11BD74DA3F}"/>
              </a:ext>
            </a:extLst>
          </p:cNvPr>
          <p:cNvSpPr>
            <a:spLocks noGrp="1"/>
          </p:cNvSpPr>
          <p:nvPr>
            <p:ph idx="1"/>
          </p:nvPr>
        </p:nvSpPr>
        <p:spPr>
          <a:xfrm>
            <a:off x="451945" y="1368424"/>
            <a:ext cx="11288109" cy="5489575"/>
          </a:xfrm>
        </p:spPr>
        <p:txBody>
          <a:bodyPr/>
          <a:lstStyle/>
          <a:p>
            <a:pPr marL="0" indent="0">
              <a:buNone/>
            </a:pPr>
            <a:r>
              <a:rPr lang="en-US" dirty="0"/>
              <a:t>A certificate is a digital file that proves the identity of an entity (website, server) and enables encrypted communication. Certificates are issued as part of a Public Key Infrastructure (PKI), where a trusted Certificate Authority (CA) signs and validates them. </a:t>
            </a:r>
          </a:p>
          <a:p>
            <a:pPr marL="0" indent="0">
              <a:buNone/>
            </a:pPr>
            <a:endParaRPr lang="en-US" dirty="0"/>
          </a:p>
          <a:p>
            <a:pPr marL="0" indent="0">
              <a:buNone/>
            </a:pPr>
            <a:r>
              <a:rPr lang="en-US" dirty="0"/>
              <a:t>Digital certificates has the following information:</a:t>
            </a:r>
          </a:p>
          <a:p>
            <a:r>
              <a:rPr lang="en-US" dirty="0"/>
              <a:t>Contains information about an entity.</a:t>
            </a:r>
          </a:p>
          <a:p>
            <a:r>
              <a:rPr lang="en-US" dirty="0"/>
              <a:t>Is tamper-resistant.</a:t>
            </a:r>
          </a:p>
          <a:p>
            <a:r>
              <a:rPr lang="en-US" dirty="0"/>
              <a:t>Contains information that can prove its authenticity.</a:t>
            </a:r>
          </a:p>
          <a:p>
            <a:r>
              <a:rPr lang="en-US" dirty="0"/>
              <a:t>Can be traced back to the issuer.</a:t>
            </a:r>
          </a:p>
          <a:p>
            <a:r>
              <a:rPr lang="en-US" dirty="0"/>
              <a:t>Has an expiration date.</a:t>
            </a:r>
          </a:p>
        </p:txBody>
      </p:sp>
    </p:spTree>
    <p:extLst>
      <p:ext uri="{BB962C8B-B14F-4D97-AF65-F5344CB8AC3E}">
        <p14:creationId xmlns:p14="http://schemas.microsoft.com/office/powerpoint/2010/main" val="2324489105"/>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C2D09-212D-832D-E0FB-EA4972DD2A5C}"/>
              </a:ext>
            </a:extLst>
          </p:cNvPr>
          <p:cNvSpPr>
            <a:spLocks noGrp="1"/>
          </p:cNvSpPr>
          <p:nvPr>
            <p:ph type="title"/>
          </p:nvPr>
        </p:nvSpPr>
        <p:spPr>
          <a:xfrm>
            <a:off x="979100" y="287566"/>
            <a:ext cx="10515600" cy="1325563"/>
          </a:xfrm>
        </p:spPr>
        <p:txBody>
          <a:bodyPr>
            <a:normAutofit/>
          </a:bodyPr>
          <a:lstStyle/>
          <a:p>
            <a:r>
              <a:rPr lang="en-US" sz="4500" dirty="0"/>
              <a:t>How the Certificate Creation Process Works</a:t>
            </a:r>
          </a:p>
        </p:txBody>
      </p:sp>
      <p:sp>
        <p:nvSpPr>
          <p:cNvPr id="4" name="Rectangle 1">
            <a:extLst>
              <a:ext uri="{FF2B5EF4-FFF2-40B4-BE49-F238E27FC236}">
                <a16:creationId xmlns:a16="http://schemas.microsoft.com/office/drawing/2014/main" id="{93B2AC50-53F9-88D1-BE55-0F8E36932EBA}"/>
              </a:ext>
            </a:extLst>
          </p:cNvPr>
          <p:cNvSpPr>
            <a:spLocks noGrp="1" noChangeArrowheads="1"/>
          </p:cNvSpPr>
          <p:nvPr>
            <p:ph idx="1"/>
          </p:nvPr>
        </p:nvSpPr>
        <p:spPr bwMode="auto">
          <a:xfrm>
            <a:off x="630450" y="1256159"/>
            <a:ext cx="112129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dirty="0">
                <a:solidFill>
                  <a:schemeClr val="tx1"/>
                </a:solidFill>
                <a:latin typeface="Arial" panose="020B0604020202020204" pitchFamily="34" charset="0"/>
              </a:rPr>
              <a:t>A private/public key is created.</a:t>
            </a:r>
          </a:p>
          <a:p>
            <a:pPr marL="0" lvl="0" indent="0" eaLnBrk="0" fontAlgn="base" hangingPunct="0">
              <a:lnSpc>
                <a:spcPct val="100000"/>
              </a:lnSpc>
              <a:spcBef>
                <a:spcPct val="0"/>
              </a:spcBef>
              <a:spcAft>
                <a:spcPct val="0"/>
              </a:spcAft>
              <a:buFontTx/>
              <a:buChar char="•"/>
            </a:pPr>
            <a:r>
              <a:rPr lang="en-US" altLang="en-US" sz="2000" dirty="0">
                <a:solidFill>
                  <a:schemeClr val="tx1"/>
                </a:solidFill>
                <a:latin typeface="Arial" panose="020B0604020202020204" pitchFamily="34" charset="0"/>
              </a:rPr>
              <a:t> Create a certificate signing request (CSR) contain your public key and </a:t>
            </a:r>
            <a:r>
              <a:rPr lang="en-US" sz="2000" dirty="0">
                <a:solidFill>
                  <a:schemeClr val="tx1"/>
                </a:solidFill>
                <a:latin typeface="Arial" panose="020B0604020202020204" pitchFamily="34" charset="0"/>
              </a:rPr>
              <a:t>identity information.</a:t>
            </a:r>
          </a:p>
          <a:p>
            <a:pPr marL="0" lvl="0" indent="0" eaLnBrk="0" fontAlgn="base" hangingPunct="0">
              <a:lnSpc>
                <a:spcPct val="100000"/>
              </a:lnSpc>
              <a:spcBef>
                <a:spcPct val="0"/>
              </a:spcBef>
              <a:spcAft>
                <a:spcPct val="0"/>
              </a:spcAft>
              <a:buFontTx/>
              <a:buChar char="•"/>
            </a:pPr>
            <a:r>
              <a:rPr lang="en-US" sz="2000" dirty="0">
                <a:solidFill>
                  <a:schemeClr val="tx1"/>
                </a:solidFill>
                <a:latin typeface="Arial" panose="020B0604020202020204" pitchFamily="34" charset="0"/>
              </a:rPr>
              <a:t>The CSR is digitally signed using your private key and sent to CA.</a:t>
            </a:r>
            <a:r>
              <a:rPr lang="en-US" altLang="en-US" sz="2000" dirty="0">
                <a:solidFill>
                  <a:schemeClr val="tx1"/>
                </a:solidFill>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issuing CA validates the request and signs the certificate with the CA’s own private key </a:t>
            </a:r>
          </a:p>
        </p:txBody>
      </p:sp>
      <p:sp>
        <p:nvSpPr>
          <p:cNvPr id="5" name="Rectangle: Rounded Corners 4">
            <a:extLst>
              <a:ext uri="{FF2B5EF4-FFF2-40B4-BE49-F238E27FC236}">
                <a16:creationId xmlns:a16="http://schemas.microsoft.com/office/drawing/2014/main" id="{6A50A9D6-7CFB-4F85-A826-2B88FA051C54}"/>
              </a:ext>
            </a:extLst>
          </p:cNvPr>
          <p:cNvSpPr/>
          <p:nvPr/>
        </p:nvSpPr>
        <p:spPr>
          <a:xfrm>
            <a:off x="1728499" y="2732798"/>
            <a:ext cx="8735002" cy="3951782"/>
          </a:xfrm>
          <a:prstGeom prst="roundRect">
            <a:avLst>
              <a:gd name="adj" fmla="val 6114"/>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795418"/>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C8CAC-5044-2A3F-F134-B9BF779A7E66}"/>
              </a:ext>
            </a:extLst>
          </p:cNvPr>
          <p:cNvSpPr>
            <a:spLocks noGrp="1"/>
          </p:cNvSpPr>
          <p:nvPr>
            <p:ph type="title"/>
          </p:nvPr>
        </p:nvSpPr>
        <p:spPr>
          <a:xfrm>
            <a:off x="1190932" y="2663031"/>
            <a:ext cx="9810135" cy="1531938"/>
          </a:xfrm>
        </p:spPr>
        <p:txBody>
          <a:bodyPr>
            <a:normAutofit/>
          </a:bodyPr>
          <a:lstStyle/>
          <a:p>
            <a:r>
              <a:rPr lang="en-US" sz="8800" b="1" dirty="0">
                <a:latin typeface="Agency FB" panose="020B0503020202020204" pitchFamily="34" charset="0"/>
              </a:rPr>
              <a:t>Thank  you for your time!</a:t>
            </a:r>
          </a:p>
        </p:txBody>
      </p:sp>
    </p:spTree>
    <p:extLst>
      <p:ext uri="{BB962C8B-B14F-4D97-AF65-F5344CB8AC3E}">
        <p14:creationId xmlns:p14="http://schemas.microsoft.com/office/powerpoint/2010/main" val="3121872108"/>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theme/theme1.xml><?xml version="1.0" encoding="utf-8"?>
<a:theme xmlns:a="http://schemas.openxmlformats.org/drawingml/2006/main" name="Depth">
  <a:themeElements>
    <a:clrScheme name="Depth">
      <a:dk1>
        <a:sysClr val="windowText" lastClr="000000"/>
      </a:dk1>
      <a:lt1>
        <a:sysClr val="window" lastClr="FFFFFF"/>
      </a:lt1>
      <a:dk2>
        <a:srgbClr val="454551"/>
      </a:dk2>
      <a:lt2>
        <a:srgbClr val="F2ACD2"/>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3016C5A4-E631-4977-A608-ACFB47552625}"/>
    </a:ext>
  </a:extLst>
</a:theme>
</file>

<file path=docProps/app.xml><?xml version="1.0" encoding="utf-8"?>
<Properties xmlns="http://schemas.openxmlformats.org/officeDocument/2006/extended-properties" xmlns:vt="http://schemas.openxmlformats.org/officeDocument/2006/docPropsVTypes">
  <Template>Circuit</Template>
  <TotalTime>608</TotalTime>
  <Words>656</Words>
  <Application>Microsoft Office PowerPoint</Application>
  <PresentationFormat>Widescreen</PresentationFormat>
  <Paragraphs>61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Agency FB</vt:lpstr>
      <vt:lpstr>Arial</vt:lpstr>
      <vt:lpstr>Corbel</vt:lpstr>
      <vt:lpstr>Wingdings</vt:lpstr>
      <vt:lpstr>Depth</vt:lpstr>
      <vt:lpstr>How Does PKI Work?</vt:lpstr>
      <vt:lpstr>What is Public Key Infrastructure or PKI?</vt:lpstr>
      <vt:lpstr>What is Symmetric encryption?</vt:lpstr>
      <vt:lpstr>What is Asymmetric encryption?</vt:lpstr>
      <vt:lpstr>PowerPoint Presentation</vt:lpstr>
      <vt:lpstr>Keys sharing issue.</vt:lpstr>
      <vt:lpstr>The problem PKI solves.</vt:lpstr>
      <vt:lpstr>What is Certificate Authorities (CA)</vt:lpstr>
      <vt:lpstr>The Role of Digital Certificates in PKI</vt:lpstr>
      <vt:lpstr>How the Certificate Creation Process Works</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Ibrahim Khan</dc:creator>
  <cp:lastModifiedBy>Ibrahim Khan</cp:lastModifiedBy>
  <cp:revision>20</cp:revision>
  <dcterms:created xsi:type="dcterms:W3CDTF">2026-01-11T08:25:24Z</dcterms:created>
  <dcterms:modified xsi:type="dcterms:W3CDTF">2026-01-11T18:34:16Z</dcterms:modified>
</cp:coreProperties>
</file>