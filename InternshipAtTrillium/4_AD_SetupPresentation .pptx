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260" r:id="rId3"/>
    <p:sldId id="261" r:id="rId4"/>
    <p:sldId id="283" r:id="rId5"/>
    <p:sldId id="284" r:id="rId6"/>
    <p:sldId id="285" r:id="rId7"/>
    <p:sldId id="286" r:id="rId8"/>
    <p:sldId id="288" r:id="rId9"/>
    <p:sldId id="289" r:id="rId10"/>
    <p:sldId id="290" r:id="rId11"/>
    <p:sldId id="291" r:id="rId12"/>
    <p:sldId id="292" r:id="rId13"/>
    <p:sldId id="293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4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7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1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5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3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5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2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79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210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52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44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43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29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87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90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50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3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50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96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435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9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86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291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2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703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69962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12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102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698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770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8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34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95E5-706B-44E8-9CC5-92DA7E7FFB0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E50A6-F74C-49C5-A547-1FDF8AD95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77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2DEA8-7ADF-5187-BAB2-4CD89408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74" y="-283805"/>
            <a:ext cx="10515600" cy="574070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👋</a:t>
            </a:r>
            <a:r>
              <a:rPr lang="en-US" dirty="0"/>
              <a:t> </a:t>
            </a:r>
            <a:r>
              <a:rPr lang="en-US" sz="5400" b="1" dirty="0">
                <a:latin typeface="Arial Black" panose="020B0A04020102020204" pitchFamily="34" charset="0"/>
              </a:rPr>
              <a:t>Hello gentlemen,</a:t>
            </a:r>
            <a:br>
              <a:rPr lang="en-US" sz="5400" b="1" dirty="0">
                <a:latin typeface="Arial Black" panose="020B0A04020102020204" pitchFamily="34" charset="0"/>
              </a:rPr>
            </a:br>
            <a:br>
              <a:rPr lang="en-US" sz="5400" b="1" dirty="0">
                <a:latin typeface="Arial Black" panose="020B0A04020102020204" pitchFamily="34" charset="0"/>
              </a:rPr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</a:t>
            </a:r>
            <a:r>
              <a:rPr lang="en-US" b="1" dirty="0">
                <a:latin typeface="Agency FB" panose="020B0503020202020204" pitchFamily="34" charset="0"/>
              </a:rPr>
              <a:t>In this presentation, I will be introducing Active Directory and its deployment.</a:t>
            </a: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49510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BCE9-01C1-61D2-1806-E4627231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68" y="1002608"/>
            <a:ext cx="11830664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Key Objectives:</a:t>
            </a:r>
          </a:p>
          <a:p>
            <a:pPr marL="0" indent="0">
              <a:buNone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1. </a:t>
            </a:r>
            <a:r>
              <a:rPr lang="en-US" dirty="0"/>
              <a:t>What is Active Directory?</a:t>
            </a:r>
          </a:p>
          <a:p>
            <a:pPr marL="0" indent="0">
              <a:buNone/>
            </a:pPr>
            <a:r>
              <a:rPr lang="en-US" dirty="0"/>
              <a:t>	2. What is Active Directory Domain Service (AD DS)?</a:t>
            </a:r>
          </a:p>
          <a:p>
            <a:pPr marL="0" indent="0">
              <a:buNone/>
            </a:pPr>
            <a:r>
              <a:rPr lang="en-US" dirty="0"/>
              <a:t>	3. Active Directory authentication mechanism. </a:t>
            </a:r>
          </a:p>
          <a:p>
            <a:pPr marL="0" indent="0">
              <a:buNone/>
            </a:pPr>
            <a:r>
              <a:rPr lang="en-US" dirty="0"/>
              <a:t>	4. Deployment and configuration of Active Directory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237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5F09-B6DB-F412-2537-11BA4232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43"/>
            <a:ext cx="1045660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1. What Active Directory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4A87-5607-1892-B665-B3EF6C3B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41" y="2037497"/>
            <a:ext cx="11650718" cy="4363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Active Directory</a:t>
            </a:r>
            <a:r>
              <a:rPr lang="en-US" sz="2400" dirty="0"/>
              <a:t> developed by Microsoft, included in most Windows Server operating systems. It allows administrators to manage permissions and access to network resources, ensuring that users and computers can securely interact within a domain network.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Mian advantages of AD:</a:t>
            </a:r>
          </a:p>
          <a:p>
            <a:r>
              <a:rPr lang="en-US" sz="2400" b="1" dirty="0"/>
              <a:t>Centralized identity management:</a:t>
            </a:r>
            <a:r>
              <a:rPr lang="en-US" sz="2400" dirty="0"/>
              <a:t> All users across the network can be configured from Active Directory with minimum effort.</a:t>
            </a:r>
          </a:p>
          <a:p>
            <a:r>
              <a:rPr lang="en-US" sz="2400" b="1" dirty="0"/>
              <a:t>Managing security policies:</a:t>
            </a:r>
            <a:r>
              <a:rPr lang="en-US" sz="2400" dirty="0"/>
              <a:t> You can configure security policies directly from Active Directory and apply them to users and computers across the network as needed.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410841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A777-CB28-7117-F90C-B0A9BB64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6412"/>
            <a:ext cx="10456606" cy="1420129"/>
          </a:xfrm>
        </p:spPr>
        <p:txBody>
          <a:bodyPr>
            <a:normAutofit/>
          </a:bodyPr>
          <a:lstStyle/>
          <a:p>
            <a:r>
              <a:rPr lang="en-US" sz="3200" b="1" dirty="0"/>
              <a:t>2. What is Active Directory Domain Service (AD DS)?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209D-9378-C1BF-4E28-92B972C4E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1995316"/>
            <a:ext cx="11761076" cy="48626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Active Directory Domain Service (AD DS)</a:t>
            </a:r>
            <a:r>
              <a:rPr lang="en-US" dirty="0"/>
              <a:t> acts as a catalogue that holds the information of all of the "objects" such as users, groups, machines, printers, shares and many others.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Users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Users are one of the most common object types in Active Directory. Users can be used to represent two types of entities:</a:t>
            </a:r>
          </a:p>
          <a:p>
            <a:pPr marL="0" indent="0">
              <a:buNone/>
            </a:pPr>
            <a:r>
              <a:rPr lang="en-US" b="1" dirty="0"/>
              <a:t>People:</a:t>
            </a:r>
            <a:r>
              <a:rPr lang="en-US" dirty="0"/>
              <a:t> users will generally represent persons in your organization that need to access the network, like employees.</a:t>
            </a:r>
          </a:p>
          <a:p>
            <a:pPr marL="0" indent="0">
              <a:buNone/>
            </a:pPr>
            <a:r>
              <a:rPr lang="en-US" b="1" dirty="0"/>
              <a:t>Services:</a:t>
            </a:r>
            <a:r>
              <a:rPr lang="en-US" dirty="0"/>
              <a:t> you can also define users to be used by services like MSSQL. Every single service requires a user to run, but service users are different from regular users as they will only have the privileges needed to run their specific service.</a:t>
            </a:r>
          </a:p>
          <a:p>
            <a:pPr marL="0" indent="0">
              <a:buNone/>
            </a:pPr>
            <a:r>
              <a:rPr lang="en-US" b="1" i="1" dirty="0"/>
              <a:t>Machines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Machines are another type of object within Active Directory; for every computer that joins the Active Directory domain, a machine object will be created. </a:t>
            </a:r>
          </a:p>
        </p:txBody>
      </p:sp>
    </p:spTree>
    <p:extLst>
      <p:ext uri="{BB962C8B-B14F-4D97-AF65-F5344CB8AC3E}">
        <p14:creationId xmlns:p14="http://schemas.microsoft.com/office/powerpoint/2010/main" val="13890566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7503-2DAD-887C-A8CD-BFBAD8F58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225296"/>
            <a:ext cx="11694695" cy="23774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/>
              <a:t>Security Groups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dirty="0"/>
              <a:t>assign access rights to files or other resources to entire groups instead </a:t>
            </a:r>
          </a:p>
          <a:p>
            <a:pPr marL="0" indent="0">
              <a:buNone/>
            </a:pPr>
            <a:r>
              <a:rPr lang="en-US" dirty="0"/>
              <a:t>of single users.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Several groups are created by default: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F8D7C3-CA7D-30D1-AB42-0E485CB44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17998"/>
              </p:ext>
            </p:extLst>
          </p:nvPr>
        </p:nvGraphicFramePr>
        <p:xfrm>
          <a:off x="304800" y="2484297"/>
          <a:ext cx="11694695" cy="42924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84884">
                  <a:extLst>
                    <a:ext uri="{9D8B030D-6E8A-4147-A177-3AD203B41FA5}">
                      <a16:colId xmlns:a16="http://schemas.microsoft.com/office/drawing/2014/main" val="2351632091"/>
                    </a:ext>
                  </a:extLst>
                </a:gridCol>
                <a:gridCol w="8309811">
                  <a:extLst>
                    <a:ext uri="{9D8B030D-6E8A-4147-A177-3AD203B41FA5}">
                      <a16:colId xmlns:a16="http://schemas.microsoft.com/office/drawing/2014/main" val="3489746674"/>
                    </a:ext>
                  </a:extLst>
                </a:gridCol>
              </a:tblGrid>
              <a:tr h="44717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Security Group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214348"/>
                  </a:ext>
                </a:extLst>
              </a:tr>
              <a:tr h="77182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Domain Admins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Users of this group have administrative privileges over the entire domain. By default, they can administer any computer on the domain, including the DCs.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65118"/>
                  </a:ext>
                </a:extLst>
              </a:tr>
              <a:tr h="77182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Server 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 dirty="0">
                          <a:effectLst/>
                        </a:rPr>
                        <a:t>Users in this group can administer Domain Controllers. They cannot change any administrative group memberships.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239616"/>
                  </a:ext>
                </a:extLst>
              </a:tr>
              <a:tr h="77182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 dirty="0">
                          <a:effectLst/>
                        </a:rPr>
                        <a:t>Backup 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Users in this group are allowed to access any file, ignoring their permissions. They are used to perform backups of data on computers.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85734"/>
                  </a:ext>
                </a:extLst>
              </a:tr>
              <a:tr h="44717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Account 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Users in this group can create or modify other accounts in the domain.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29797"/>
                  </a:ext>
                </a:extLst>
              </a:tr>
              <a:tr h="44717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Domain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Includes all existing user accounts in the domain.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035958"/>
                  </a:ext>
                </a:extLst>
              </a:tr>
              <a:tr h="44717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>
                          <a:effectLst/>
                        </a:rPr>
                        <a:t>Domain 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900" dirty="0">
                          <a:effectLst/>
                        </a:rPr>
                        <a:t>Includes all existing computers in the domain.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773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49333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A58B8-93DA-7A2E-C059-6CAC73EEF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9152874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7D21-1196-9A6B-F030-82F95A4B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2832"/>
            <a:ext cx="10397613" cy="1080938"/>
          </a:xfrm>
        </p:spPr>
        <p:txBody>
          <a:bodyPr>
            <a:normAutofit/>
          </a:bodyPr>
          <a:lstStyle/>
          <a:p>
            <a:r>
              <a:rPr lang="en-US" b="1" dirty="0"/>
              <a:t>3. Active Directory authentication mechanism.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B1743-771B-456F-EA76-AA56C078C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22" y="1990750"/>
            <a:ext cx="11842955" cy="5471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Kerberos</a:t>
            </a:r>
            <a:r>
              <a:rPr lang="en-US" sz="2800" dirty="0"/>
              <a:t> is a secure authentication protocol used by Windows domains. Instead of sending passwords over the network, it uses </a:t>
            </a:r>
            <a:r>
              <a:rPr lang="en-US" sz="2800" b="1" dirty="0"/>
              <a:t>tickets</a:t>
            </a:r>
            <a:r>
              <a:rPr lang="en-US" sz="2800" dirty="0"/>
              <a:t> to prove a user’s identity after they log in once.</a:t>
            </a:r>
          </a:p>
          <a:p>
            <a:pPr marL="0" indent="0">
              <a:buNone/>
            </a:pPr>
            <a:endParaRPr lang="en-US" sz="2000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User requests a TGT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(Username + Timestamp encrypted with user password)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KDC issues TGT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(TGT encrypted with </a:t>
            </a:r>
            <a:r>
              <a:rPr lang="en-US" altLang="en-US" sz="2000" dirty="0" err="1">
                <a:latin typeface="Arial" panose="020B0604020202020204" pitchFamily="34" charset="0"/>
              </a:rPr>
              <a:t>krbtgt</a:t>
            </a:r>
            <a:r>
              <a:rPr lang="en-US" altLang="en-US" sz="2000" dirty="0">
                <a:latin typeface="Arial" panose="020B0604020202020204" pitchFamily="34" charset="0"/>
              </a:rPr>
              <a:t> hash + Session Key)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User requests a TGS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(TGT + Timestamp encrypted with Session Key + SPN)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KDC issues TGS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(TGS encrypted with Service Account hash + Service Session Key)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User accesses the service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(Presents TGS to the service)</a:t>
            </a:r>
          </a:p>
        </p:txBody>
      </p:sp>
    </p:spTree>
    <p:extLst>
      <p:ext uri="{BB962C8B-B14F-4D97-AF65-F5344CB8AC3E}">
        <p14:creationId xmlns:p14="http://schemas.microsoft.com/office/powerpoint/2010/main" val="52751854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>
            <a:extLst>
              <a:ext uri="{FF2B5EF4-FFF2-40B4-BE49-F238E27FC236}">
                <a16:creationId xmlns:a16="http://schemas.microsoft.com/office/drawing/2014/main" id="{D4998513-B01A-4630-79C2-F1ECC4843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2451"/>
            <a:ext cx="12192000" cy="75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99594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0230-DE9D-5DD3-C671-753F86F2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19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4. Setting up Active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3C40-75C8-805F-7213-57ACC0972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695"/>
            <a:ext cx="10515600" cy="4351338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b="1" dirty="0"/>
              <a:t>Server Manager </a:t>
            </a:r>
            <a:r>
              <a:rPr lang="en-US" dirty="0"/>
              <a:t>Click </a:t>
            </a:r>
            <a:r>
              <a:rPr lang="en-US" b="1" dirty="0"/>
              <a:t>Manage </a:t>
            </a:r>
            <a:r>
              <a:rPr lang="en-US" dirty="0"/>
              <a:t>Select </a:t>
            </a:r>
            <a:r>
              <a:rPr lang="en-US" b="1" dirty="0"/>
              <a:t>Add Roles and Features, </a:t>
            </a:r>
            <a:r>
              <a:rPr lang="en-US" dirty="0"/>
              <a:t>A wizard will pop up named </a:t>
            </a:r>
            <a:r>
              <a:rPr lang="en-US" b="1" dirty="0"/>
              <a:t>Add Roles and Features Wizard</a:t>
            </a:r>
            <a:r>
              <a:rPr lang="en-US" i="1" dirty="0"/>
              <a:t> </a:t>
            </a:r>
            <a:r>
              <a:rPr lang="en-US" dirty="0"/>
              <a:t>Choose </a:t>
            </a:r>
            <a:r>
              <a:rPr lang="en-US" b="1" dirty="0"/>
              <a:t>Installation Type</a:t>
            </a:r>
            <a:r>
              <a:rPr lang="en-US" dirty="0"/>
              <a:t> as Role-based or feature-based installation Select your server's name from the list.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AAA53-9086-A2F8-EF24-F73A57B6A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069" y="2670408"/>
            <a:ext cx="8749861" cy="418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748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045F-8FCC-C542-3BAE-613295376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14" y="312135"/>
            <a:ext cx="10515600" cy="728389"/>
          </a:xfrm>
        </p:spPr>
        <p:txBody>
          <a:bodyPr/>
          <a:lstStyle/>
          <a:p>
            <a:pPr algn="ctr"/>
            <a:r>
              <a:rPr lang="en-US" dirty="0"/>
              <a:t>Check </a:t>
            </a:r>
            <a:r>
              <a:rPr lang="en-US" b="1" dirty="0"/>
              <a:t>Active Directory Domain Services </a:t>
            </a:r>
            <a:r>
              <a:rPr lang="en-US" dirty="0"/>
              <a:t>and </a:t>
            </a:r>
            <a:r>
              <a:rPr lang="en-US" b="1" dirty="0"/>
              <a:t>Add Features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A4822-A4FF-9A35-EEF2-19DE95DE7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2" y="814756"/>
            <a:ext cx="11960876" cy="60432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14691D-D0F3-A032-7080-2E8DFE75D268}"/>
              </a:ext>
            </a:extLst>
          </p:cNvPr>
          <p:cNvSpPr/>
          <p:nvPr/>
        </p:nvSpPr>
        <p:spPr>
          <a:xfrm>
            <a:off x="3310759" y="2128345"/>
            <a:ext cx="2995448" cy="2995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810F7-671C-2876-69B7-4B5900E81597}"/>
              </a:ext>
            </a:extLst>
          </p:cNvPr>
          <p:cNvSpPr/>
          <p:nvPr/>
        </p:nvSpPr>
        <p:spPr>
          <a:xfrm>
            <a:off x="9443543" y="6011712"/>
            <a:ext cx="1319049" cy="5026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694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B7F96-F9B9-623A-6784-9A4F9ACA1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28" y="0"/>
            <a:ext cx="5452241" cy="433264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dirty="0"/>
              <a:t>Click </a:t>
            </a:r>
            <a:r>
              <a:rPr lang="en-US" sz="2000" b="1" dirty="0"/>
              <a:t>Promote this server to a domain controller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883F5-61AE-65AC-9D27-0B07586A5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6" y="307419"/>
            <a:ext cx="4934606" cy="30328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3889EC-340B-2264-081C-AE22D2872AD2}"/>
              </a:ext>
            </a:extLst>
          </p:cNvPr>
          <p:cNvSpPr/>
          <p:nvPr/>
        </p:nvSpPr>
        <p:spPr>
          <a:xfrm>
            <a:off x="1686908" y="1650884"/>
            <a:ext cx="1639615" cy="1306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CE83B4-8E77-3548-9E79-1D06E2985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848" y="216269"/>
            <a:ext cx="4934606" cy="3037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46ABDC-F5AA-8F17-1F7B-1C0642F05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6" y="3846575"/>
            <a:ext cx="4934606" cy="3011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D2411D-D9C8-5E9B-71FA-0796C5E598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885" y="3846575"/>
            <a:ext cx="4934606" cy="303856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406B62-3709-102A-D5BA-A5D75217701C}"/>
              </a:ext>
            </a:extLst>
          </p:cNvPr>
          <p:cNvSpPr txBox="1">
            <a:spLocks/>
          </p:cNvSpPr>
          <p:nvPr/>
        </p:nvSpPr>
        <p:spPr>
          <a:xfrm>
            <a:off x="7037988" y="-42877"/>
            <a:ext cx="4742793" cy="444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Choose </a:t>
            </a:r>
            <a:r>
              <a:rPr lang="en-US" sz="2000" b="1" dirty="0"/>
              <a:t>Forest </a:t>
            </a:r>
            <a:r>
              <a:rPr lang="en-US" sz="2000" dirty="0"/>
              <a:t>and name such my.com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223EE1D-408F-C874-21B3-858EAB05CF63}"/>
              </a:ext>
            </a:extLst>
          </p:cNvPr>
          <p:cNvSpPr txBox="1">
            <a:spLocks/>
          </p:cNvSpPr>
          <p:nvPr/>
        </p:nvSpPr>
        <p:spPr>
          <a:xfrm>
            <a:off x="135318" y="3519964"/>
            <a:ext cx="4742793" cy="444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Choose a strong password for AD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2877F8-AF11-CEC3-3475-9BF8C550AB91}"/>
              </a:ext>
            </a:extLst>
          </p:cNvPr>
          <p:cNvSpPr txBox="1">
            <a:spLocks/>
          </p:cNvSpPr>
          <p:nvPr/>
        </p:nvSpPr>
        <p:spPr>
          <a:xfrm>
            <a:off x="7035355" y="3530471"/>
            <a:ext cx="4742793" cy="444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Click </a:t>
            </a:r>
            <a:r>
              <a:rPr lang="en-US" sz="2000" b="1" dirty="0"/>
              <a:t>Install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446699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AE999E-69DD-9A3E-E175-E43001E1C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0" y="154480"/>
            <a:ext cx="12050109" cy="120135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Create some OU and child OU add users/computers to them</a:t>
            </a:r>
          </a:p>
          <a:p>
            <a:pPr marL="0" indent="0">
              <a:buNone/>
            </a:pPr>
            <a:r>
              <a:rPr lang="en-US" dirty="0"/>
              <a:t>Right click on any </a:t>
            </a:r>
            <a:r>
              <a:rPr lang="en-US" b="1" dirty="0"/>
              <a:t>OU &gt; New &gt; User</a:t>
            </a:r>
          </a:p>
          <a:p>
            <a:pPr marL="0" indent="0">
              <a:buNone/>
            </a:pPr>
            <a:r>
              <a:rPr lang="en-US" dirty="0"/>
              <a:t>Click </a:t>
            </a:r>
            <a:r>
              <a:rPr lang="en-US" b="1" dirty="0"/>
              <a:t>Next</a:t>
            </a:r>
            <a:r>
              <a:rPr lang="en-US" dirty="0"/>
              <a:t> choose a password for user and click </a:t>
            </a:r>
            <a:r>
              <a:rPr lang="en-US" b="1" dirty="0"/>
              <a:t>Finish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D31296-6A56-F3D4-CFBF-4DD958BFF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51" y="1355835"/>
            <a:ext cx="10704786" cy="614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4662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8CAC-5044-2A3F-F134-B9BF779A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7062"/>
            <a:ext cx="10515600" cy="3063875"/>
          </a:xfrm>
        </p:spPr>
        <p:txBody>
          <a:bodyPr>
            <a:normAutofit/>
          </a:bodyPr>
          <a:lstStyle/>
          <a:p>
            <a:r>
              <a:rPr lang="en-US" sz="8800" b="1" dirty="0">
                <a:latin typeface="Agency FB" panose="020B0503020202020204" pitchFamily="34" charset="0"/>
              </a:rPr>
              <a:t>Thank  you for your time!</a:t>
            </a:r>
          </a:p>
        </p:txBody>
      </p:sp>
    </p:spTree>
    <p:extLst>
      <p:ext uri="{BB962C8B-B14F-4D97-AF65-F5344CB8AC3E}">
        <p14:creationId xmlns:p14="http://schemas.microsoft.com/office/powerpoint/2010/main" val="3121872108"/>
      </p:ext>
    </p:extLst>
  </p:cSld>
  <p:clrMapOvr>
    <a:masterClrMapping/>
  </p:clrMapOvr>
  <p:transition spd="slow">
    <p:push dir="u"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586</TotalTime>
  <Words>697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Arial</vt:lpstr>
      <vt:lpstr>Arial Black</vt:lpstr>
      <vt:lpstr>Bookman Old Style</vt:lpstr>
      <vt:lpstr>Rockwell</vt:lpstr>
      <vt:lpstr>Trebuchet MS</vt:lpstr>
      <vt:lpstr>Berlin</vt:lpstr>
      <vt:lpstr>Damask</vt:lpstr>
      <vt:lpstr>👋 Hello gentlemen,     In this presentation, I will be introducing Active Directory and its deployment.</vt:lpstr>
      <vt:lpstr>PowerPoint Presentation</vt:lpstr>
      <vt:lpstr>1. What Active Directory is</vt:lpstr>
      <vt:lpstr>2. What is Active Directory Domain Service (AD DS)? </vt:lpstr>
      <vt:lpstr>PowerPoint Presentation</vt:lpstr>
      <vt:lpstr>PowerPoint Presentation</vt:lpstr>
      <vt:lpstr>3. Active Directory authentication mechanism. </vt:lpstr>
      <vt:lpstr>PowerPoint Presentation</vt:lpstr>
      <vt:lpstr>4. Setting up Active Directory</vt:lpstr>
      <vt:lpstr>PowerPoint Presentation</vt:lpstr>
      <vt:lpstr>PowerPoint Presentation</vt:lpstr>
      <vt:lpstr>PowerPoint Presentation</vt:lpstr>
      <vt:lpstr>Thank 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Khan</dc:creator>
  <cp:lastModifiedBy>Ibrahim Khan</cp:lastModifiedBy>
  <cp:revision>50</cp:revision>
  <dcterms:created xsi:type="dcterms:W3CDTF">2025-12-17T09:54:03Z</dcterms:created>
  <dcterms:modified xsi:type="dcterms:W3CDTF">2026-01-08T17:25:31Z</dcterms:modified>
</cp:coreProperties>
</file>