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5C768-C434-448C-8531-4A71DF9D130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5688B-BD2A-4514-AAA3-5FD82D015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92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38CA46-4639-4C70-91A0-FB6F73AD12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02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38CA46-4639-4C70-91A0-FB6F73AD12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531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16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8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5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9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1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9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1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34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8977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29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27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21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6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9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C8686CD-66C3-4B77-A6B3-94278253DB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5C94297-8CBA-484D-A092-962FED47D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245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D78D-5ED3-40FB-9AE5-16AE3540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648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CompTIA Network+ (N10-009)  Learning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F0A5A-0511-4C61-A90F-B1C4C4635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55952"/>
            <a:ext cx="10515600" cy="1934193"/>
          </a:xfrm>
        </p:spPr>
        <p:txBody>
          <a:bodyPr/>
          <a:lstStyle/>
          <a:p>
            <a:r>
              <a:rPr lang="en-US" dirty="0"/>
              <a:t>Presented by: </a:t>
            </a:r>
            <a:r>
              <a:rPr lang="en-US" b="1" dirty="0"/>
              <a:t>Ibrahim Khan</a:t>
            </a:r>
          </a:p>
          <a:p>
            <a:r>
              <a:rPr lang="en-US" dirty="0"/>
              <a:t>Under the program of TISS Winter Internship Program 2025-26</a:t>
            </a:r>
          </a:p>
        </p:txBody>
      </p:sp>
    </p:spTree>
    <p:extLst>
      <p:ext uri="{BB962C8B-B14F-4D97-AF65-F5344CB8AC3E}">
        <p14:creationId xmlns:p14="http://schemas.microsoft.com/office/powerpoint/2010/main" val="40485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117B3E-4476-4A23-8EF5-5003470EE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706" y="1936324"/>
            <a:ext cx="11688588" cy="2985352"/>
          </a:xfrm>
        </p:spPr>
        <p:txBody>
          <a:bodyPr>
            <a:normAutofit fontScale="90000"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is CompTIA (Computing Technology Industry Association)?</a:t>
            </a:r>
            <a:b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largest provider of IT certifications, worldwide reach</a:t>
            </a:r>
            <a:b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certifications offered in many different languages.</a:t>
            </a:r>
            <a:b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3385316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37ED-509C-4822-8E8A-92A6B85C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OSI Model</a:t>
            </a:r>
            <a:endParaRPr lang="en-US" sz="6600" b="1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49A00F6-5A75-4FBE-A9BB-2C2A4CE7F69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4690" y="1225689"/>
            <a:ext cx="6607126" cy="5620043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54BC4DA-3DC2-4221-8369-DA143B263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816" y="1237957"/>
            <a:ext cx="545236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Physical Layer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(cables, signaling, connectors).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Data Link Layer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(MAC addresses, switch).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Network Layer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(IP addresses, routing, packets).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Transport Layer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(TCP/UDP).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Session Layer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(Managing sessions start/end).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Presentation Layer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(encrypts/</a:t>
            </a:r>
            <a:r>
              <a:rPr lang="en-US" altLang="en-US" sz="1800" dirty="0" err="1">
                <a:latin typeface="Arial" panose="020B0604020202020204" pitchFamily="34" charset="0"/>
              </a:rPr>
              <a:t>decrypts,compresses</a:t>
            </a:r>
            <a:r>
              <a:rPr lang="en-US" altLang="en-US" sz="1800" dirty="0">
                <a:latin typeface="Arial" panose="020B0604020202020204" pitchFamily="34" charset="0"/>
              </a:rPr>
              <a:t>/decompress, apps).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Application Layer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(HTTPS, FTP, DNS).  </a:t>
            </a:r>
          </a:p>
        </p:txBody>
      </p:sp>
    </p:spTree>
    <p:extLst>
      <p:ext uri="{BB962C8B-B14F-4D97-AF65-F5344CB8AC3E}">
        <p14:creationId xmlns:p14="http://schemas.microsoft.com/office/powerpoint/2010/main" val="514597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E533-94E0-424E-B0B2-5F151F3D4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Network Devices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4E74C3-4699-4E29-A239-ACBD40F3A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3880"/>
            <a:ext cx="12192000" cy="5886084"/>
          </a:xfrm>
        </p:spPr>
        <p:txBody>
          <a:bodyPr>
            <a:normAutofit lnSpcReduction="10000"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network device that connects multiple networks together, routers operates at layer 3 of the OSI model.</a:t>
            </a:r>
          </a:p>
          <a:p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switch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makes connections between specific devices on a network, switch operates at the layer of 2 of the OSI model. </a:t>
            </a:r>
          </a:p>
          <a:p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firewall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is a network security device that monitors traffic to or from your network.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intrusion detection system (IDS) 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is an application that monitors system activity and alerts on possible intrusions.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intrusion prevention system (IPS) 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is an application that monitors system activity for intrusive activity and takes action to stop the activity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/>
              <a:t>A l</a:t>
            </a:r>
            <a:r>
              <a:rPr lang="en-US" b="1" dirty="0"/>
              <a:t>oad balancer </a:t>
            </a:r>
            <a:r>
              <a:rPr lang="en-US" dirty="0"/>
              <a:t>distributes incoming network traffic across multiple servers to ensure no single server is overwhelmed.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0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D8C1-0B4C-4902-B627-5BB26D7A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101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Common Protocols and their Ports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DD9B0AE-D311-422D-869A-E1A1C632DE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5974252"/>
              </p:ext>
            </p:extLst>
          </p:nvPr>
        </p:nvGraphicFramePr>
        <p:xfrm>
          <a:off x="56269" y="837715"/>
          <a:ext cx="12079462" cy="59972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13989">
                  <a:extLst>
                    <a:ext uri="{9D8B030D-6E8A-4147-A177-3AD203B41FA5}">
                      <a16:colId xmlns:a16="http://schemas.microsoft.com/office/drawing/2014/main" val="3214227316"/>
                    </a:ext>
                  </a:extLst>
                </a:gridCol>
                <a:gridCol w="1250667">
                  <a:extLst>
                    <a:ext uri="{9D8B030D-6E8A-4147-A177-3AD203B41FA5}">
                      <a16:colId xmlns:a16="http://schemas.microsoft.com/office/drawing/2014/main" val="3844742699"/>
                    </a:ext>
                  </a:extLst>
                </a:gridCol>
                <a:gridCol w="7814806">
                  <a:extLst>
                    <a:ext uri="{9D8B030D-6E8A-4147-A177-3AD203B41FA5}">
                      <a16:colId xmlns:a16="http://schemas.microsoft.com/office/drawing/2014/main" val="2286096908"/>
                    </a:ext>
                  </a:extLst>
                </a:gridCol>
              </a:tblGrid>
              <a:tr h="636078">
                <a:tc>
                  <a:txBody>
                    <a:bodyPr/>
                    <a:lstStyle/>
                    <a:p>
                      <a:r>
                        <a:rPr lang="en-US" sz="3600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626898"/>
                  </a:ext>
                </a:extLst>
              </a:tr>
              <a:tr h="3791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SSH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 secure way to control a computers </a:t>
                      </a:r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remotley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1930165"/>
                  </a:ext>
                </a:extLst>
              </a:tr>
              <a:tr h="663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SFTP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Securely moves files between computers using the same method as SSH.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83539602"/>
                  </a:ext>
                </a:extLst>
              </a:tr>
              <a:tr h="663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Telnet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An outdated and unsafe way to control a computer remotely.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48402535"/>
                  </a:ext>
                </a:extLst>
              </a:tr>
              <a:tr h="663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SMTP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The standard method for sending emails from one server to another.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9154642"/>
                  </a:ext>
                </a:extLst>
              </a:tr>
              <a:tr h="3318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NTP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Keeps all the clocks on a network perfectly in sync.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5160640"/>
                  </a:ext>
                </a:extLst>
              </a:tr>
              <a:tr h="663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SNMP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Helps network administrators watch over and manage network equipment like routers, switches etc.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812942"/>
                  </a:ext>
                </a:extLst>
              </a:tr>
              <a:tr h="663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LDAPS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dirty="0"/>
                        <a:t>LDAPS (Lightweight Directory Access Protocol Secure) is used to access and manage information in a central database.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05944594"/>
                  </a:ext>
                </a:extLst>
              </a:tr>
              <a:tr h="663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SMB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445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The service that lets you share files and printers across Windows computers.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77477150"/>
                  </a:ext>
                </a:extLst>
              </a:tr>
              <a:tr h="663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RDP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3389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 service that lets you remotely view and use another computer's full desktop screen.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8851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960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54A1-6749-460B-B1A9-9132301B5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402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Basics of binary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4C7F-5F6E-42DF-9099-E51A28B0D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1445"/>
            <a:ext cx="12134557" cy="6314351"/>
          </a:xfrm>
        </p:spPr>
        <p:txBody>
          <a:bodyPr/>
          <a:lstStyle/>
          <a:p>
            <a:r>
              <a:rPr lang="en-US" sz="2400" dirty="0"/>
              <a:t>A bit (0 or 1) A byte = 8 bits often called octet</a:t>
            </a:r>
          </a:p>
          <a:p>
            <a:r>
              <a:rPr lang="en-US" sz="2400" dirty="0"/>
              <a:t>A binary conversion chart to decimal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accent6"/>
                </a:solidFill>
              </a:rPr>
              <a:t>128	64	32	16	8	4	2	1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	</a:t>
            </a:r>
            <a:r>
              <a:rPr lang="en-US" sz="2400" dirty="0"/>
              <a:t>0	0	0	0	0	0	0	0</a:t>
            </a:r>
          </a:p>
          <a:p>
            <a:pPr marL="0" indent="0">
              <a:buNone/>
            </a:pPr>
            <a:r>
              <a:rPr lang="en-US" sz="2400" dirty="0"/>
              <a:t>What is binary 00000010 in decimal?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accent6"/>
                </a:solidFill>
              </a:rPr>
              <a:t>128	64	32	16	8	4	2	1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	   </a:t>
            </a:r>
            <a:r>
              <a:rPr lang="en-US" sz="2400" dirty="0"/>
              <a:t>0	0	0	0	0	0	1	0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	    </a:t>
            </a:r>
            <a:r>
              <a:rPr lang="en-US" sz="2400" dirty="0"/>
              <a:t>0  +   0     +    0     +    0      +   0    +     0    +     2    +     0     = 2 decimal</a:t>
            </a:r>
          </a:p>
          <a:p>
            <a:pPr marL="0" indent="0">
              <a:buNone/>
            </a:pPr>
            <a:r>
              <a:rPr lang="en-US" sz="2400" dirty="0"/>
              <a:t>What is decimal 154 in binary?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400" dirty="0">
                <a:solidFill>
                  <a:schemeClr val="accent6"/>
                </a:solidFill>
              </a:rPr>
              <a:t>128	64	32	16	8	4	2	1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	</a:t>
            </a:r>
            <a:r>
              <a:rPr lang="en-US" sz="2400" dirty="0"/>
              <a:t>   1	0	0	1	1  	0	1	0       = 10011010 in binary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	</a:t>
            </a:r>
            <a:r>
              <a:rPr lang="en-US" sz="2400" dirty="0"/>
              <a:t> 128  +  0       +  0       +16       +8    +      0    +    2      +   0        = 154 decimal1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C72FFE-B0E6-48DA-B610-27DDF858703D}"/>
              </a:ext>
            </a:extLst>
          </p:cNvPr>
          <p:cNvCxnSpPr>
            <a:cxnSpLocks/>
          </p:cNvCxnSpPr>
          <p:nvPr/>
        </p:nvCxnSpPr>
        <p:spPr>
          <a:xfrm>
            <a:off x="1085556" y="5546750"/>
            <a:ext cx="6641123" cy="140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A35515-5513-4CAB-8BD6-E11A45CE557C}"/>
              </a:ext>
            </a:extLst>
          </p:cNvPr>
          <p:cNvCxnSpPr>
            <a:cxnSpLocks/>
          </p:cNvCxnSpPr>
          <p:nvPr/>
        </p:nvCxnSpPr>
        <p:spPr>
          <a:xfrm>
            <a:off x="1085557" y="3624911"/>
            <a:ext cx="6641123" cy="140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47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8A4C3-5D3A-4E78-A789-D9BF870F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-210544"/>
            <a:ext cx="10642210" cy="1279689"/>
          </a:xfrm>
        </p:spPr>
        <p:txBody>
          <a:bodyPr/>
          <a:lstStyle/>
          <a:p>
            <a:pPr algn="ctr"/>
            <a:r>
              <a:rPr lang="en-US" dirty="0"/>
              <a:t>What is subnetting?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5865E-88E4-4D12-A6FB-F1982A559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73546"/>
            <a:ext cx="12192000" cy="25899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Calculating subnets and hosts in 127.16.55.0/21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11111111.11111111.11111000.00000000</a:t>
            </a:r>
          </a:p>
          <a:p>
            <a:pPr marL="0" indent="0" algn="ctr">
              <a:buNone/>
            </a:pPr>
            <a:r>
              <a:rPr lang="en-US" dirty="0"/>
              <a:t>Total subnets = 5 bits = 2</a:t>
            </a:r>
            <a:r>
              <a:rPr lang="en-US" baseline="30000" dirty="0"/>
              <a:t>5</a:t>
            </a:r>
            <a:r>
              <a:rPr lang="en-US" dirty="0"/>
              <a:t> = </a:t>
            </a:r>
            <a:r>
              <a:rPr lang="en-US" b="1" dirty="0"/>
              <a:t>32</a:t>
            </a:r>
          </a:p>
          <a:p>
            <a:pPr marL="0" indent="0" algn="ctr">
              <a:buNone/>
            </a:pPr>
            <a:r>
              <a:rPr lang="en-US" dirty="0"/>
              <a:t>Host per subnet = 11 bits = 2</a:t>
            </a:r>
            <a:r>
              <a:rPr lang="en-US" baseline="30000" dirty="0"/>
              <a:t>11</a:t>
            </a:r>
            <a:r>
              <a:rPr lang="en-US" dirty="0"/>
              <a:t>-2 = 2,048 =</a:t>
            </a:r>
            <a:r>
              <a:rPr lang="en-US" b="1" dirty="0"/>
              <a:t>2,046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6F9F02C-44D5-4DEC-88E7-E0823738D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481596"/>
              </p:ext>
            </p:extLst>
          </p:nvPr>
        </p:nvGraphicFramePr>
        <p:xfrm>
          <a:off x="355795" y="2077196"/>
          <a:ext cx="11353800" cy="229427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784600">
                  <a:extLst>
                    <a:ext uri="{9D8B030D-6E8A-4147-A177-3AD203B41FA5}">
                      <a16:colId xmlns:a16="http://schemas.microsoft.com/office/drawing/2014/main" val="3925988006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953890982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1038024137"/>
                    </a:ext>
                  </a:extLst>
                </a:gridCol>
              </a:tblGrid>
              <a:tr h="40699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14140"/>
                  </a:ext>
                </a:extLst>
              </a:tr>
              <a:tr h="36158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778850"/>
                  </a:ext>
                </a:extLst>
              </a:tr>
              <a:tr h="394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Network address (set all host bits to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36582"/>
                  </a:ext>
                </a:extLst>
              </a:tr>
              <a:tr h="3615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First host address (add 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599912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Broadcast address (set all host bits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282451"/>
                  </a:ext>
                </a:extLst>
              </a:tr>
              <a:tr h="3615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Last host address (subtract 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192.168.4.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595582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DA67C0-F32D-48B4-A84E-4517AA9ABBFE}"/>
              </a:ext>
            </a:extLst>
          </p:cNvPr>
          <p:cNvSpPr txBox="1">
            <a:spLocks/>
          </p:cNvSpPr>
          <p:nvPr/>
        </p:nvSpPr>
        <p:spPr>
          <a:xfrm>
            <a:off x="0" y="596910"/>
            <a:ext cx="12192000" cy="1480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Subnetting is the process of splitting larger network into smaller networks.</a:t>
            </a:r>
          </a:p>
          <a:p>
            <a:r>
              <a:rPr lang="en-US" dirty="0"/>
              <a:t>Calculation of the IPv4 class C address: IP(192.168.4.77) Subnet Mask(255.255.255.0)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2D2B4-5CD7-4367-BEA2-D8B1E410139F}"/>
              </a:ext>
            </a:extLst>
          </p:cNvPr>
          <p:cNvSpPr txBox="1"/>
          <p:nvPr/>
        </p:nvSpPr>
        <p:spPr>
          <a:xfrm>
            <a:off x="116645" y="5070860"/>
            <a:ext cx="29782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Network = 16 bits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437F1-EE84-44AE-98DB-424EDF3E0A84}"/>
              </a:ext>
            </a:extLst>
          </p:cNvPr>
          <p:cNvSpPr txBox="1"/>
          <p:nvPr/>
        </p:nvSpPr>
        <p:spPr>
          <a:xfrm>
            <a:off x="3176074" y="5079144"/>
            <a:ext cx="833218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Sub=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82019-8463-409B-ABF7-4759C79E49EF}"/>
              </a:ext>
            </a:extLst>
          </p:cNvPr>
          <p:cNvSpPr txBox="1"/>
          <p:nvPr/>
        </p:nvSpPr>
        <p:spPr>
          <a:xfrm>
            <a:off x="4104541" y="5098996"/>
            <a:ext cx="2005527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Host = 11</a:t>
            </a:r>
          </a:p>
        </p:txBody>
      </p:sp>
    </p:spTree>
    <p:extLst>
      <p:ext uri="{BB962C8B-B14F-4D97-AF65-F5344CB8AC3E}">
        <p14:creationId xmlns:p14="http://schemas.microsoft.com/office/powerpoint/2010/main" val="4204797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DC95-ADF9-4EF3-8850-3F8E46A94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Zero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08F20-F61D-4E89-8C63-7113CA5E1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Zero Trust </a:t>
            </a:r>
            <a:r>
              <a:rPr lang="en-US" dirty="0"/>
              <a:t>in networking is always verify, constantly authenticating users, devices, and applications, regardless of location.</a:t>
            </a:r>
          </a:p>
          <a:p>
            <a:r>
              <a:rPr lang="en-US" b="1" dirty="0"/>
              <a:t>Authentication: </a:t>
            </a:r>
            <a:r>
              <a:rPr lang="en-US" dirty="0"/>
              <a:t>who they claim to be before granting access to a network or resources.</a:t>
            </a:r>
          </a:p>
          <a:p>
            <a:r>
              <a:rPr lang="en-US" b="1" dirty="0"/>
              <a:t>Authorization:</a:t>
            </a:r>
            <a:r>
              <a:rPr lang="en-US" dirty="0"/>
              <a:t> is the security process that decides </a:t>
            </a:r>
            <a:r>
              <a:rPr lang="en-US" i="1" dirty="0"/>
              <a:t>what</a:t>
            </a:r>
            <a:r>
              <a:rPr lang="en-US" dirty="0"/>
              <a:t> an authenticated user can do.</a:t>
            </a:r>
          </a:p>
          <a:p>
            <a:r>
              <a:rPr lang="en-US" b="1" dirty="0"/>
              <a:t>Least Privilege Access: </a:t>
            </a:r>
            <a:r>
              <a:rPr lang="en-US" dirty="0"/>
              <a:t>Grant only the minimum permissions needed to perform their job.</a:t>
            </a:r>
          </a:p>
        </p:txBody>
      </p:sp>
    </p:spTree>
    <p:extLst>
      <p:ext uri="{BB962C8B-B14F-4D97-AF65-F5344CB8AC3E}">
        <p14:creationId xmlns:p14="http://schemas.microsoft.com/office/powerpoint/2010/main" val="316245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06E53-540C-4C3E-9428-824041BEE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94138"/>
            <a:ext cx="12192000" cy="6858000"/>
          </a:xfrm>
        </p:spPr>
        <p:txBody>
          <a:bodyPr/>
          <a:lstStyle/>
          <a:p>
            <a:pPr rtl="0"/>
            <a:r>
              <a:rPr lang="en-US" b="1" dirty="0"/>
              <a:t>Infrastructure as code (</a:t>
            </a:r>
            <a:r>
              <a:rPr lang="en-US" b="1" dirty="0" err="1"/>
              <a:t>IaC</a:t>
            </a:r>
            <a:r>
              <a:rPr lang="en-US" b="1" dirty="0"/>
              <a:t>) </a:t>
            </a:r>
            <a:r>
              <a:rPr lang="en-US" dirty="0"/>
              <a:t>is the ability to provision and support your computing infrastructure using code instead of manual processes and settings.</a:t>
            </a:r>
          </a:p>
          <a:p>
            <a:pPr rtl="0"/>
            <a:r>
              <a:rPr lang="en-US" b="1" dirty="0"/>
              <a:t>Static routing </a:t>
            </a:r>
            <a:r>
              <a:rPr lang="en-US" dirty="0"/>
              <a:t>involves manually configured, fixed routes suitable for small, stable networks.</a:t>
            </a:r>
          </a:p>
          <a:p>
            <a:pPr rtl="0"/>
            <a:r>
              <a:rPr lang="en-US" dirty="0"/>
              <a:t> </a:t>
            </a:r>
            <a:r>
              <a:rPr lang="en-US" b="1" dirty="0"/>
              <a:t>dynamic routing </a:t>
            </a:r>
            <a:r>
              <a:rPr lang="en-US" dirty="0"/>
              <a:t>uses automated protocols to discover and update routes, making it ideal for larger, more complex networks.</a:t>
            </a:r>
          </a:p>
          <a:p>
            <a:pPr rtl="0"/>
            <a:r>
              <a:rPr lang="en-US" b="1" dirty="0"/>
              <a:t>VLANs (Virtual LANs) </a:t>
            </a:r>
            <a:r>
              <a:rPr lang="en-US" dirty="0"/>
              <a:t>logically segment a single physical network into multiple separate broadcast addresses (like different LANs) </a:t>
            </a:r>
          </a:p>
          <a:p>
            <a:pPr rtl="0"/>
            <a:r>
              <a:rPr lang="en-US" b="1" dirty="0"/>
              <a:t>Trunk</a:t>
            </a:r>
            <a:r>
              <a:rPr lang="en-US" dirty="0"/>
              <a:t> is the port (like a switch-to-switch cable) that carries traffic for </a:t>
            </a:r>
            <a:r>
              <a:rPr lang="en-US" i="1" dirty="0"/>
              <a:t>multiple</a:t>
            </a:r>
            <a:r>
              <a:rPr lang="en-US" dirty="0"/>
              <a:t> VLANs.</a:t>
            </a:r>
          </a:p>
          <a:p>
            <a:pPr rtl="0"/>
            <a:r>
              <a:rPr lang="en-US" b="1" dirty="0"/>
              <a:t>port bonding </a:t>
            </a:r>
            <a:r>
              <a:rPr lang="en-US" dirty="0"/>
              <a:t>connecting multiple interfaces to make the network stable and fast.</a:t>
            </a:r>
          </a:p>
          <a:p>
            <a:r>
              <a:rPr lang="en-US" dirty="0">
                <a:effectLst/>
              </a:rPr>
              <a:t>STP (</a:t>
            </a:r>
            <a:r>
              <a:rPr lang="en-US" dirty="0"/>
              <a:t>Spanning Tree Protocol) is a Layer 2 network protocol that creates a loop-free logical topology for an Ethernet network.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019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8DB02-5AEE-4D7D-9479-376ED614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004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Network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3E58A-061B-4C29-823C-C28A8F8A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7" y="1351475"/>
            <a:ext cx="11090786" cy="5416243"/>
          </a:xfrm>
        </p:spPr>
        <p:txBody>
          <a:bodyPr>
            <a:normAutofit/>
          </a:bodyPr>
          <a:lstStyle/>
          <a:p>
            <a:r>
              <a:rPr lang="en-US" b="1" dirty="0"/>
              <a:t>Network discovery</a:t>
            </a:r>
            <a:r>
              <a:rPr lang="en-US" dirty="0"/>
              <a:t> is the process of automatically identifying devices and connections within a network</a:t>
            </a:r>
          </a:p>
          <a:p>
            <a:r>
              <a:rPr lang="en-US" b="1" dirty="0"/>
              <a:t>Traffic analysis</a:t>
            </a:r>
            <a:r>
              <a:rPr lang="en-US" dirty="0"/>
              <a:t> examining network data to understand usage patterns, detect issues, and optimize performance</a:t>
            </a:r>
          </a:p>
          <a:p>
            <a:r>
              <a:rPr lang="en-US" b="1" dirty="0"/>
              <a:t>Performance monitoring </a:t>
            </a:r>
            <a:r>
              <a:rPr lang="en-US" dirty="0"/>
              <a:t>continuously tracking network and device metrics to ensure systems operate efficiently and reliably</a:t>
            </a:r>
          </a:p>
          <a:p>
            <a:r>
              <a:rPr lang="en-US" b="1" dirty="0"/>
              <a:t>Network redundancy </a:t>
            </a:r>
            <a:r>
              <a:rPr lang="en-US" dirty="0"/>
              <a:t>adding extra or backup network paths, devices so the network keeps running even if one part fails</a:t>
            </a:r>
          </a:p>
          <a:p>
            <a:r>
              <a:rPr lang="en-US" b="1" dirty="0"/>
              <a:t>NTP (Network Time Protocol) </a:t>
            </a:r>
            <a:r>
              <a:rPr lang="en-US" dirty="0"/>
              <a:t>a protocol used to synchronize the clocks of computers and network devices to a precise, common time source.</a:t>
            </a:r>
          </a:p>
        </p:txBody>
      </p:sp>
    </p:spTree>
    <p:extLst>
      <p:ext uri="{BB962C8B-B14F-4D97-AF65-F5344CB8AC3E}">
        <p14:creationId xmlns:p14="http://schemas.microsoft.com/office/powerpoint/2010/main" val="2843400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E6E1-0C59-5B7F-1847-93E0966D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540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Virtual Private Network (VPN)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9B34E-80D0-7D25-B207-D1D0C7451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097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VPN creates a secure, encrypted tunnel over a public network so users can safely access private network resources.</a:t>
            </a:r>
          </a:p>
          <a:p>
            <a:r>
              <a:rPr lang="en-US" b="1" dirty="0"/>
              <a:t>Client-to-Site VPN: </a:t>
            </a:r>
            <a:r>
              <a:rPr lang="en-US" dirty="0"/>
              <a:t>A type of VPN where a user installs a VPN client on their device to securely connect to a company’s internal network from a remote location.</a:t>
            </a:r>
          </a:p>
          <a:p>
            <a:r>
              <a:rPr lang="en-US" b="1" dirty="0"/>
              <a:t>Clientless VPN: </a:t>
            </a:r>
            <a:r>
              <a:rPr lang="en-US" dirty="0"/>
              <a:t>A VPN that does not require installing any software; users access internal resources securely through a web browser, usually over SSL.</a:t>
            </a:r>
          </a:p>
        </p:txBody>
      </p:sp>
    </p:spTree>
    <p:extLst>
      <p:ext uri="{BB962C8B-B14F-4D97-AF65-F5344CB8AC3E}">
        <p14:creationId xmlns:p14="http://schemas.microsoft.com/office/powerpoint/2010/main" val="396542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4795-35EB-FB5F-78C3-AC9C811F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Remote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2A787-40D5-47A5-A5E3-69E8C82FC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Remote access allows us to connect to and manage network device from a different location.</a:t>
            </a:r>
          </a:p>
          <a:p>
            <a:r>
              <a:rPr lang="en-US" b="1" dirty="0"/>
              <a:t>SSH </a:t>
            </a:r>
            <a:r>
              <a:rPr lang="en-US" dirty="0"/>
              <a:t>A secure, encrypted command-line remote access protocol used mainly for managing servers and network devices.</a:t>
            </a:r>
          </a:p>
          <a:p>
            <a:r>
              <a:rPr lang="en-US" b="1" dirty="0"/>
              <a:t>Telnet </a:t>
            </a:r>
            <a:r>
              <a:rPr lang="en-US" dirty="0"/>
              <a:t>An older command-line remote access protocol that sends data unencrypted, making it insecure for modern networks.</a:t>
            </a:r>
          </a:p>
          <a:p>
            <a:r>
              <a:rPr lang="en-US" b="1" dirty="0"/>
              <a:t>RDP </a:t>
            </a:r>
            <a:r>
              <a:rPr lang="en-US" dirty="0"/>
              <a:t>lets you access a Windows computer with a GUI interface.</a:t>
            </a:r>
          </a:p>
          <a:p>
            <a:r>
              <a:rPr lang="en-US" b="1" dirty="0"/>
              <a:t>VNC </a:t>
            </a:r>
            <a:r>
              <a:rPr lang="en-US" dirty="0"/>
              <a:t>A GUI remote control over the system and its cross platform.</a:t>
            </a:r>
          </a:p>
          <a:p>
            <a:r>
              <a:rPr lang="en-US" b="1" dirty="0"/>
              <a:t>TeamViewer/</a:t>
            </a:r>
            <a:r>
              <a:rPr lang="en-US" b="1" dirty="0" err="1"/>
              <a:t>AnyDesk</a:t>
            </a:r>
            <a:r>
              <a:rPr lang="en-US" dirty="0"/>
              <a:t> Third-party tools for graphical remote control.</a:t>
            </a:r>
          </a:p>
          <a:p>
            <a:r>
              <a:rPr lang="en-US" b="1" dirty="0"/>
              <a:t>Console Connection </a:t>
            </a:r>
            <a:r>
              <a:rPr lang="en-US" dirty="0"/>
              <a:t>A direct (using a console port) to a network device like a router or switch, mainly for initial setup.</a:t>
            </a:r>
          </a:p>
        </p:txBody>
      </p:sp>
    </p:spTree>
    <p:extLst>
      <p:ext uri="{BB962C8B-B14F-4D97-AF65-F5344CB8AC3E}">
        <p14:creationId xmlns:p14="http://schemas.microsoft.com/office/powerpoint/2010/main" val="3022617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2F87-3587-A93B-DA2C-55ACC0F85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822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Security Concepts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A221C-4DAE-5A35-524D-DB90F840F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2671"/>
            <a:ext cx="12192000" cy="627930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PKI (Public Key Infrastructure) </a:t>
            </a:r>
            <a:r>
              <a:rPr lang="en-US" dirty="0"/>
              <a:t>is a framework of policies, processes, and technologies that uses digital certificates and public-key cryptography</a:t>
            </a:r>
          </a:p>
          <a:p>
            <a:r>
              <a:rPr lang="en-US" b="1" dirty="0"/>
              <a:t>Digital Certificates </a:t>
            </a:r>
            <a:r>
              <a:rPr lang="en-US" dirty="0"/>
              <a:t>are electronic credentials issued by a certificate authority (CA) that verify the identity of users, devices, or servers</a:t>
            </a:r>
          </a:p>
          <a:p>
            <a:r>
              <a:rPr lang="en-US" b="1" dirty="0"/>
              <a:t>Role-Based Access Control (RBAC) </a:t>
            </a:r>
            <a:r>
              <a:rPr lang="en-US" dirty="0"/>
              <a:t>An access model where permissions are assigned to roles</a:t>
            </a:r>
          </a:p>
          <a:p>
            <a:r>
              <a:rPr lang="en-US" b="1" dirty="0"/>
              <a:t>AAA Framework (Authentication, Authorization, Accounting) </a:t>
            </a:r>
            <a:r>
              <a:rPr lang="en-US" dirty="0"/>
              <a:t>A security model that verifies identity, grants appropriate access, and logs user activities</a:t>
            </a:r>
          </a:p>
          <a:p>
            <a:r>
              <a:rPr lang="en-US" b="1" dirty="0"/>
              <a:t>Compliance </a:t>
            </a:r>
            <a:r>
              <a:rPr lang="en-US" dirty="0"/>
              <a:t>Adhering to laws, standards, and regulations governing security</a:t>
            </a:r>
          </a:p>
          <a:p>
            <a:r>
              <a:rPr lang="en-US" b="1" dirty="0"/>
              <a:t>PCI-DSS (Payment Card Industry Data Security Standard) </a:t>
            </a:r>
            <a:r>
              <a:rPr lang="en-US" dirty="0"/>
              <a:t>A security standard designed to protect payment card data across systems and transactions.</a:t>
            </a:r>
          </a:p>
          <a:p>
            <a:r>
              <a:rPr lang="en-US" b="1" dirty="0"/>
              <a:t>DDoS (Distributed Denial of Service) </a:t>
            </a:r>
            <a:r>
              <a:rPr lang="en-US" dirty="0"/>
              <a:t>An attack where many compromised devices overwhelm a target server or network with traffic, causing it to slow down or crash</a:t>
            </a:r>
          </a:p>
          <a:p>
            <a:r>
              <a:rPr lang="en-US" b="1" dirty="0"/>
              <a:t>IP Spoofing </a:t>
            </a:r>
            <a:r>
              <a:rPr lang="en-US" dirty="0"/>
              <a:t>faking the source IP address in packets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24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27592-804F-027F-815C-31FD40A3A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199"/>
            <a:ext cx="10515600" cy="396560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Social Engineering </a:t>
            </a:r>
            <a:r>
              <a:rPr lang="en-US" dirty="0"/>
              <a:t>is the act of influencing someone to take an action that may not be in their best interest. Such as Phishing, </a:t>
            </a:r>
            <a:r>
              <a:rPr lang="en-US" dirty="0" err="1"/>
              <a:t>smshing</a:t>
            </a:r>
            <a:r>
              <a:rPr lang="en-US" dirty="0"/>
              <a:t>, vishing and etc.</a:t>
            </a:r>
          </a:p>
          <a:p>
            <a:pPr marL="0" indent="0">
              <a:buNone/>
            </a:pPr>
            <a:r>
              <a:rPr lang="en-US" b="1" dirty="0"/>
              <a:t>Malware</a:t>
            </a:r>
            <a:r>
              <a:rPr lang="en-US" dirty="0"/>
              <a:t> is malicious software designed to disrupt, damage, or steal data. Common types include worms, Trojans, ransomware and spyware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b="1" dirty="0"/>
              <a:t>Security rules </a:t>
            </a:r>
            <a:r>
              <a:rPr lang="en-US" dirty="0"/>
              <a:t>are guidelines or settings that control who can access what in a network helping protect data from unauthorized use.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79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2699-AE16-3460-9499-7B809AC8E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723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Network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07E9F-3328-BF90-157C-AE1721E6C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33831"/>
            <a:ext cx="12192000" cy="5324167"/>
          </a:xfrm>
        </p:spPr>
        <p:txBody>
          <a:bodyPr>
            <a:normAutofit/>
          </a:bodyPr>
          <a:lstStyle/>
          <a:p>
            <a:r>
              <a:rPr lang="en-US" b="1" dirty="0"/>
              <a:t>Cable</a:t>
            </a:r>
            <a:r>
              <a:rPr lang="en-US" dirty="0"/>
              <a:t> physical damage or loose connections causing unstable network such as broken cable causing disconnects to fix ensure connectors are tight, and test using cable testers</a:t>
            </a:r>
          </a:p>
          <a:p>
            <a:r>
              <a:rPr lang="en-US" b="1" dirty="0"/>
              <a:t>Interface Monitoring </a:t>
            </a:r>
            <a:r>
              <a:rPr lang="en-US" dirty="0"/>
              <a:t>errors like collisions, or flapping ports such as router port going up/down repeatedly to fix check port configuration, replace faulty transceivers, update firmware, and verify speed/duplex settings</a:t>
            </a:r>
          </a:p>
          <a:p>
            <a:r>
              <a:rPr lang="en-US" b="1" dirty="0"/>
              <a:t>Wireless </a:t>
            </a:r>
            <a:r>
              <a:rPr lang="en-US" dirty="0"/>
              <a:t>Weak Wi-Fi signal, interference, or misconfigured access points such as slow Wi-Fi due to interference from nearby networks to fix change channel, reposition access points and strengthen security</a:t>
            </a:r>
          </a:p>
          <a:p>
            <a:r>
              <a:rPr lang="en-US" b="1" dirty="0"/>
              <a:t>Hardware </a:t>
            </a:r>
            <a:r>
              <a:rPr lang="en-US" dirty="0"/>
              <a:t>failure of switches, routers, or access points such as overheated switch causing devices to drop, to fix ensure proper cooling, restart or reset the device, or replace faulty hardware.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65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C6E5-265D-9CE7-9C68-28D31BC69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948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CLI Tools and commands for Networks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5950C-ECBB-1CC3-B6DA-2EB997C69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03" y="1229711"/>
            <a:ext cx="11946193" cy="577017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b="1" dirty="0"/>
              <a:t>Ping </a:t>
            </a:r>
            <a:r>
              <a:rPr lang="en-US" sz="3200" dirty="0"/>
              <a:t>&gt;</a:t>
            </a:r>
            <a:r>
              <a:rPr lang="en-US" sz="3200" b="1" dirty="0"/>
              <a:t> </a:t>
            </a:r>
            <a:r>
              <a:rPr lang="en-US" sz="3200" dirty="0"/>
              <a:t>Checks basic connectivity to a host by sending ICMP echo requests</a:t>
            </a:r>
            <a:br>
              <a:rPr lang="en-US" sz="3200" dirty="0"/>
            </a:br>
            <a:r>
              <a:rPr lang="en-US" sz="3200" b="1" dirty="0"/>
              <a:t>traceroute </a:t>
            </a:r>
            <a:r>
              <a:rPr lang="en-US" sz="3200" dirty="0"/>
              <a:t>&gt;</a:t>
            </a:r>
            <a:r>
              <a:rPr lang="en-US" sz="3200" b="1" dirty="0"/>
              <a:t> </a:t>
            </a:r>
            <a:r>
              <a:rPr lang="en-US" sz="3200" dirty="0"/>
              <a:t>Shows the path and hops packets of the packet</a:t>
            </a:r>
            <a:br>
              <a:rPr lang="en-US" sz="3200" dirty="0"/>
            </a:br>
            <a:r>
              <a:rPr lang="en-US" sz="3200" b="1" dirty="0" err="1"/>
              <a:t>nslookup</a:t>
            </a:r>
            <a:r>
              <a:rPr lang="en-US" sz="3200" dirty="0"/>
              <a:t> &gt; Queries DNS to find the IP address of a domain</a:t>
            </a:r>
            <a:br>
              <a:rPr lang="en-US" sz="3200" dirty="0"/>
            </a:br>
            <a:r>
              <a:rPr lang="en-US" sz="3200" b="1" dirty="0"/>
              <a:t>dig </a:t>
            </a:r>
            <a:r>
              <a:rPr lang="en-US" sz="3200" dirty="0"/>
              <a:t>&gt; Provides detailed DNS record information</a:t>
            </a:r>
            <a:br>
              <a:rPr lang="en-US" sz="3200" dirty="0"/>
            </a:br>
            <a:r>
              <a:rPr lang="en-US" sz="3200" b="1" dirty="0" err="1"/>
              <a:t>tcpdump</a:t>
            </a:r>
            <a:r>
              <a:rPr lang="en-US" sz="3200" dirty="0"/>
              <a:t> &gt; Captures and analyzes network packets</a:t>
            </a:r>
            <a:br>
              <a:rPr lang="en-US" sz="3200" dirty="0"/>
            </a:br>
            <a:r>
              <a:rPr lang="en-US" sz="3200" b="1" dirty="0"/>
              <a:t>netstat </a:t>
            </a:r>
            <a:r>
              <a:rPr lang="en-US" sz="3200" dirty="0"/>
              <a:t>&gt; Displays active connections, ports, and routing information</a:t>
            </a:r>
            <a:br>
              <a:rPr lang="en-US" sz="3200" dirty="0"/>
            </a:br>
            <a:r>
              <a:rPr lang="en-US" sz="3200" b="1" dirty="0" err="1"/>
              <a:t>arp</a:t>
            </a:r>
            <a:r>
              <a:rPr lang="en-US" sz="3200" b="1" dirty="0"/>
              <a:t> –a</a:t>
            </a:r>
            <a:r>
              <a:rPr lang="en-US" sz="3200" dirty="0"/>
              <a:t> &gt; Shows IP-to-MAC address mappings used in local networks</a:t>
            </a:r>
          </a:p>
          <a:p>
            <a:pPr marL="0" indent="0">
              <a:buNone/>
            </a:pPr>
            <a:r>
              <a:rPr lang="en-US" sz="3200" b="1" dirty="0"/>
              <a:t>show mac-address-table</a:t>
            </a:r>
            <a:r>
              <a:rPr lang="en-US" sz="3200" dirty="0"/>
              <a:t> &gt; Displays MAC addresses learned by the switch</a:t>
            </a:r>
            <a:br>
              <a:rPr lang="en-US" sz="3200" dirty="0"/>
            </a:br>
            <a:r>
              <a:rPr lang="en-US" sz="3200" b="1" dirty="0"/>
              <a:t>show route</a:t>
            </a:r>
            <a:r>
              <a:rPr lang="en-US" sz="3200" dirty="0"/>
              <a:t> &gt; Shows the device’s routing table</a:t>
            </a:r>
            <a:br>
              <a:rPr lang="en-US" sz="3200" dirty="0"/>
            </a:br>
            <a:r>
              <a:rPr lang="en-US" sz="3200" b="1" dirty="0"/>
              <a:t>show </a:t>
            </a:r>
            <a:r>
              <a:rPr lang="en-US" sz="3200" b="1" dirty="0" err="1"/>
              <a:t>arp</a:t>
            </a:r>
            <a:r>
              <a:rPr lang="en-US" sz="3200" dirty="0"/>
              <a:t> &gt; Lists IP-to-MAC address mappings stored in the ARP cache</a:t>
            </a:r>
            <a:br>
              <a:rPr lang="en-US" sz="3200" dirty="0"/>
            </a:br>
            <a:r>
              <a:rPr lang="en-US" sz="3200" b="1" dirty="0"/>
              <a:t>show </a:t>
            </a:r>
            <a:r>
              <a:rPr lang="en-US" sz="3200" b="1" dirty="0" err="1"/>
              <a:t>vlan</a:t>
            </a:r>
            <a:r>
              <a:rPr lang="en-US" sz="3200" dirty="0"/>
              <a:t> &gt; Displays all VLANs configured on the switch and their status.</a:t>
            </a:r>
            <a:br>
              <a:rPr lang="en-US" sz="3200" dirty="0"/>
            </a:br>
            <a:r>
              <a:rPr lang="en-US" sz="3200" b="1" dirty="0"/>
              <a:t>show power</a:t>
            </a:r>
            <a:r>
              <a:rPr lang="en-US" sz="3200" dirty="0"/>
              <a:t> &gt; Shows the device’s power status</a:t>
            </a:r>
          </a:p>
        </p:txBody>
      </p:sp>
    </p:spTree>
    <p:extLst>
      <p:ext uri="{BB962C8B-B14F-4D97-AF65-F5344CB8AC3E}">
        <p14:creationId xmlns:p14="http://schemas.microsoft.com/office/powerpoint/2010/main" val="3825634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8CAC-5044-2A3F-F134-B9BF779A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7062"/>
            <a:ext cx="10515600" cy="3063875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Agency FB" panose="020B0503020202020204" pitchFamily="34" charset="0"/>
              </a:rPr>
              <a:t>Thank  you for your time!</a:t>
            </a:r>
          </a:p>
        </p:txBody>
      </p:sp>
    </p:spTree>
    <p:extLst>
      <p:ext uri="{BB962C8B-B14F-4D97-AF65-F5344CB8AC3E}">
        <p14:creationId xmlns:p14="http://schemas.microsoft.com/office/powerpoint/2010/main" val="312187210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1237</TotalTime>
  <Words>1733</Words>
  <Application>Microsoft Office PowerPoint</Application>
  <PresentationFormat>Widescreen</PresentationFormat>
  <Paragraphs>179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Agency FB</vt:lpstr>
      <vt:lpstr>Arial</vt:lpstr>
      <vt:lpstr>Calibri</vt:lpstr>
      <vt:lpstr>Corbel</vt:lpstr>
      <vt:lpstr>Depth</vt:lpstr>
      <vt:lpstr>CompTIA Network+ (N10-009)  Learning Summary</vt:lpstr>
      <vt:lpstr>Who is CompTIA (Computing Technology Industry Association)? The largest provider of IT certifications, worldwide reach  and certifications offered in many different languages. </vt:lpstr>
      <vt:lpstr>Understanding the OSI Model</vt:lpstr>
      <vt:lpstr>Network Devices</vt:lpstr>
      <vt:lpstr>Common Protocols and their Ports</vt:lpstr>
      <vt:lpstr>Basics of binary math</vt:lpstr>
      <vt:lpstr>What is subnetting?</vt:lpstr>
      <vt:lpstr>Zero Trust</vt:lpstr>
      <vt:lpstr>PowerPoint Presentation</vt:lpstr>
      <vt:lpstr>Network Solutions</vt:lpstr>
      <vt:lpstr>Virtual Private Network (VPN)</vt:lpstr>
      <vt:lpstr>Remote Access</vt:lpstr>
      <vt:lpstr>Security Concepts </vt:lpstr>
      <vt:lpstr>PowerPoint Presentation</vt:lpstr>
      <vt:lpstr>Network Issues</vt:lpstr>
      <vt:lpstr>CLI Tools and commands for Networks </vt:lpstr>
      <vt:lpstr>Thank  you for your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CompTIA Network+ (N10-009) – 2 Weeks Learning Summary</dc:title>
  <dc:creator>Ibrahim Khan</dc:creator>
  <cp:lastModifiedBy>Ibrahim Khan</cp:lastModifiedBy>
  <cp:revision>31</cp:revision>
  <dcterms:created xsi:type="dcterms:W3CDTF">2025-12-04T05:48:57Z</dcterms:created>
  <dcterms:modified xsi:type="dcterms:W3CDTF">2026-01-09T17:14:18Z</dcterms:modified>
</cp:coreProperties>
</file>