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23"/>
  </p:notesMasterIdLst>
  <p:sldIdLst>
    <p:sldId id="257" r:id="rId2"/>
    <p:sldId id="258" r:id="rId3"/>
    <p:sldId id="259" r:id="rId4"/>
    <p:sldId id="260" r:id="rId5"/>
    <p:sldId id="261" r:id="rId6"/>
    <p:sldId id="262" r:id="rId7"/>
    <p:sldId id="263" r:id="rId8"/>
    <p:sldId id="264" r:id="rId9"/>
    <p:sldId id="265" r:id="rId10"/>
    <p:sldId id="266" r:id="rId11"/>
    <p:sldId id="268" r:id="rId12"/>
    <p:sldId id="269" r:id="rId13"/>
    <p:sldId id="270" r:id="rId14"/>
    <p:sldId id="271" r:id="rId15"/>
    <p:sldId id="272" r:id="rId16"/>
    <p:sldId id="273" r:id="rId17"/>
    <p:sldId id="274" r:id="rId18"/>
    <p:sldId id="275" r:id="rId19"/>
    <p:sldId id="276" r:id="rId20"/>
    <p:sldId id="277" r:id="rId21"/>
    <p:sldId id="282" r:id="rId2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8FD4443E-F989-4FC4-A0C8-D5A2AF1F390B}" styleName="Dark Style 1 - Accent 5">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5"/>
          </a:solidFill>
        </a:fill>
      </a:tcStyle>
    </a:wholeTbl>
    <a:band1H>
      <a:tcStyle>
        <a:tcBdr/>
        <a:fill>
          <a:solidFill>
            <a:schemeClr val="accent5">
              <a:shade val="60000"/>
            </a:schemeClr>
          </a:solidFill>
        </a:fill>
      </a:tcStyle>
    </a:band1H>
    <a:band1V>
      <a:tcStyle>
        <a:tcBdr/>
        <a:fill>
          <a:solidFill>
            <a:schemeClr val="accent5">
              <a:shade val="60000"/>
            </a:schemeClr>
          </a:solidFill>
        </a:fill>
      </a:tcStyle>
    </a:band1V>
    <a:lastCol>
      <a:tcTxStyle b="on"/>
      <a:tcStyle>
        <a:tcBdr>
          <a:left>
            <a:ln w="25400" cmpd="sng">
              <a:solidFill>
                <a:schemeClr val="lt1"/>
              </a:solidFill>
            </a:ln>
          </a:left>
        </a:tcBdr>
        <a:fill>
          <a:solidFill>
            <a:schemeClr val="accent5">
              <a:shade val="60000"/>
            </a:schemeClr>
          </a:solidFill>
        </a:fill>
      </a:tcStyle>
    </a:lastCol>
    <a:firstCol>
      <a:tcTxStyle b="on"/>
      <a:tcStyle>
        <a:tcBdr>
          <a:right>
            <a:ln w="25400" cmpd="sng">
              <a:solidFill>
                <a:schemeClr val="lt1"/>
              </a:solidFill>
            </a:ln>
          </a:right>
        </a:tcBdr>
        <a:fill>
          <a:solidFill>
            <a:schemeClr val="accent5">
              <a:shade val="60000"/>
            </a:schemeClr>
          </a:solidFill>
        </a:fill>
      </a:tcStyle>
    </a:firstCol>
    <a:lastRow>
      <a:tcTxStyle b="on"/>
      <a:tcStyle>
        <a:tcBdr>
          <a:top>
            <a:ln w="25400" cmpd="sng">
              <a:solidFill>
                <a:schemeClr val="lt1"/>
              </a:solidFill>
            </a:ln>
          </a:top>
        </a:tcBdr>
        <a:fill>
          <a:solidFill>
            <a:schemeClr val="accent5">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37CE84F3-28C3-443E-9E96-99CF82512B78}" styleName="Dark Style 1 - Accent 2">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2"/>
          </a:solidFill>
        </a:fill>
      </a:tcStyle>
    </a:wholeTbl>
    <a:band1H>
      <a:tcStyle>
        <a:tcBdr/>
        <a:fill>
          <a:solidFill>
            <a:schemeClr val="accent2">
              <a:shade val="60000"/>
            </a:schemeClr>
          </a:solidFill>
        </a:fill>
      </a:tcStyle>
    </a:band1H>
    <a:band1V>
      <a:tcStyle>
        <a:tcBdr/>
        <a:fill>
          <a:solidFill>
            <a:schemeClr val="accent2">
              <a:shade val="60000"/>
            </a:schemeClr>
          </a:solidFill>
        </a:fill>
      </a:tcStyle>
    </a:band1V>
    <a:lastCol>
      <a:tcTxStyle b="on"/>
      <a:tcStyle>
        <a:tcBdr>
          <a:left>
            <a:ln w="25400" cmpd="sng">
              <a:solidFill>
                <a:schemeClr val="lt1"/>
              </a:solidFill>
            </a:ln>
          </a:left>
        </a:tcBdr>
        <a:fill>
          <a:solidFill>
            <a:schemeClr val="accent2">
              <a:shade val="60000"/>
            </a:schemeClr>
          </a:solidFill>
        </a:fill>
      </a:tcStyle>
    </a:lastCol>
    <a:firstCol>
      <a:tcTxStyle b="on"/>
      <a:tcStyle>
        <a:tcBdr>
          <a:right>
            <a:ln w="25400" cmpd="sng">
              <a:solidFill>
                <a:schemeClr val="lt1"/>
              </a:solidFill>
            </a:ln>
          </a:right>
        </a:tcBdr>
        <a:fill>
          <a:solidFill>
            <a:schemeClr val="accent2">
              <a:shade val="60000"/>
            </a:schemeClr>
          </a:solidFill>
        </a:fill>
      </a:tcStyle>
    </a:firstCol>
    <a:lastRow>
      <a:tcTxStyle b="on"/>
      <a:tcStyle>
        <a:tcBdr>
          <a:top>
            <a:ln w="25400" cmpd="sng">
              <a:solidFill>
                <a:schemeClr val="lt1"/>
              </a:solidFill>
            </a:ln>
          </a:top>
        </a:tcBdr>
        <a:fill>
          <a:solidFill>
            <a:schemeClr val="accent2">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125E5076-3810-47DD-B79F-674D7AD40C01}" styleName="Dark Style 1 - Accent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1"/>
          </a:solidFill>
        </a:fill>
      </a:tcStyle>
    </a:wholeTbl>
    <a:band1H>
      <a:tcStyle>
        <a:tcBdr/>
        <a:fill>
          <a:solidFill>
            <a:schemeClr val="accent1">
              <a:shade val="60000"/>
            </a:schemeClr>
          </a:solidFill>
        </a:fill>
      </a:tcStyle>
    </a:band1H>
    <a:band1V>
      <a:tcStyle>
        <a:tcBdr/>
        <a:fill>
          <a:solidFill>
            <a:schemeClr val="accent1">
              <a:shade val="60000"/>
            </a:schemeClr>
          </a:solidFill>
        </a:fill>
      </a:tcStyle>
    </a:band1V>
    <a:lastCol>
      <a:tcTxStyle b="on"/>
      <a:tcStyle>
        <a:tcBdr>
          <a:left>
            <a:ln w="25400" cmpd="sng">
              <a:solidFill>
                <a:schemeClr val="lt1"/>
              </a:solidFill>
            </a:ln>
          </a:left>
        </a:tcBdr>
        <a:fill>
          <a:solidFill>
            <a:schemeClr val="accent1">
              <a:shade val="60000"/>
            </a:schemeClr>
          </a:solidFill>
        </a:fill>
      </a:tcStyle>
    </a:lastCol>
    <a:firstCol>
      <a:tcTxStyle b="on"/>
      <a:tcStyle>
        <a:tcBdr>
          <a:right>
            <a:ln w="25400" cmpd="sng">
              <a:solidFill>
                <a:schemeClr val="lt1"/>
              </a:solidFill>
            </a:ln>
          </a:right>
        </a:tcBdr>
        <a:fill>
          <a:solidFill>
            <a:schemeClr val="accent1">
              <a:shade val="60000"/>
            </a:schemeClr>
          </a:solidFill>
        </a:fill>
      </a:tcStyle>
    </a:firstCol>
    <a:lastRow>
      <a:tcTxStyle b="on"/>
      <a:tcStyle>
        <a:tcBdr>
          <a:top>
            <a:ln w="25400" cmpd="sng">
              <a:solidFill>
                <a:schemeClr val="lt1"/>
              </a:solidFill>
            </a:ln>
          </a:top>
        </a:tcBdr>
        <a:fill>
          <a:solidFill>
            <a:schemeClr val="accent1">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69C7853C-536D-4A76-A0AE-DD22124D55A5}" styleName="Themed Style 1 - Accent 3">
    <a:tblBg>
      <a:fillRef idx="2">
        <a:schemeClr val="accent3"/>
      </a:fillRef>
      <a:effectRef idx="1">
        <a:schemeClr val="accent3"/>
      </a:effectRef>
    </a:tblBg>
    <a:wholeTbl>
      <a:tcTxStyle>
        <a:fontRef idx="minor">
          <a:scrgbClr r="0" g="0" b="0"/>
        </a:fontRef>
        <a:schemeClr val="dk1"/>
      </a:tcTxStyle>
      <a:tcStyle>
        <a:tcBdr>
          <a:left>
            <a:lnRef idx="1">
              <a:schemeClr val="accent3"/>
            </a:lnRef>
          </a:left>
          <a:right>
            <a:lnRef idx="1">
              <a:schemeClr val="accent3"/>
            </a:lnRef>
          </a:right>
          <a:top>
            <a:lnRef idx="1">
              <a:schemeClr val="accent3"/>
            </a:lnRef>
          </a:top>
          <a:bottom>
            <a:lnRef idx="1">
              <a:schemeClr val="accent3"/>
            </a:lnRef>
          </a:bottom>
          <a:insideH>
            <a:lnRef idx="1">
              <a:schemeClr val="accent3"/>
            </a:lnRef>
          </a:insideH>
          <a:insideV>
            <a:lnRef idx="1">
              <a:schemeClr val="accent3"/>
            </a:lnRef>
          </a:insideV>
        </a:tcBdr>
        <a:fill>
          <a:noFill/>
        </a:fill>
      </a:tcStyle>
    </a:wholeTbl>
    <a:band1H>
      <a:tcStyle>
        <a:tcBdr/>
        <a:fill>
          <a:solidFill>
            <a:schemeClr val="accent3">
              <a:alpha val="40000"/>
            </a:schemeClr>
          </a:solidFill>
        </a:fill>
      </a:tcStyle>
    </a:band1H>
    <a:band2H>
      <a:tcStyle>
        <a:tcBdr/>
      </a:tcStyle>
    </a:band2H>
    <a:band1V>
      <a:tcStyle>
        <a:tcBdr>
          <a:top>
            <a:lnRef idx="1">
              <a:schemeClr val="accent3"/>
            </a:lnRef>
          </a:top>
          <a:bottom>
            <a:lnRef idx="1">
              <a:schemeClr val="accent3"/>
            </a:lnRef>
          </a:bottom>
        </a:tcBdr>
        <a:fill>
          <a:solidFill>
            <a:schemeClr val="accent3">
              <a:alpha val="40000"/>
            </a:schemeClr>
          </a:solidFill>
        </a:fill>
      </a:tcStyle>
    </a:band1V>
    <a:band2V>
      <a:tcStyle>
        <a:tcBdr/>
      </a:tcStyle>
    </a:band2V>
    <a:lastCol>
      <a:tcTxStyle b="on"/>
      <a:tcStyle>
        <a:tcBdr>
          <a:left>
            <a:lnRef idx="2">
              <a:schemeClr val="accent3"/>
            </a:lnRef>
          </a:left>
          <a:right>
            <a:lnRef idx="1">
              <a:schemeClr val="accent3"/>
            </a:lnRef>
          </a:right>
          <a:top>
            <a:lnRef idx="1">
              <a:schemeClr val="accent3"/>
            </a:lnRef>
          </a:top>
          <a:bottom>
            <a:lnRef idx="1">
              <a:schemeClr val="accent3"/>
            </a:lnRef>
          </a:bottom>
          <a:insideH>
            <a:lnRef idx="1">
              <a:schemeClr val="accent3"/>
            </a:lnRef>
          </a:insideH>
          <a:insideV>
            <a:ln>
              <a:noFill/>
            </a:ln>
          </a:insideV>
        </a:tcBdr>
      </a:tcStyle>
    </a:lastCol>
    <a:firstCol>
      <a:tcTxStyle b="on"/>
      <a:tcStyle>
        <a:tcBdr>
          <a:left>
            <a:lnRef idx="1">
              <a:schemeClr val="accent3"/>
            </a:lnRef>
          </a:left>
          <a:right>
            <a:lnRef idx="2">
              <a:schemeClr val="accent3"/>
            </a:lnRef>
          </a:right>
          <a:top>
            <a:lnRef idx="1">
              <a:schemeClr val="accent3"/>
            </a:lnRef>
          </a:top>
          <a:bottom>
            <a:lnRef idx="1">
              <a:schemeClr val="accent3"/>
            </a:lnRef>
          </a:bottom>
          <a:insideH>
            <a:lnRef idx="1">
              <a:schemeClr val="accent3"/>
            </a:lnRef>
          </a:insideH>
          <a:insideV>
            <a:ln>
              <a:noFill/>
            </a:ln>
          </a:insideV>
        </a:tcBdr>
      </a:tcStyle>
    </a:firstCol>
    <a:lastRow>
      <a:tcTxStyle b="on"/>
      <a:tcStyle>
        <a:tcBdr>
          <a:left>
            <a:lnRef idx="1">
              <a:schemeClr val="accent3"/>
            </a:lnRef>
          </a:left>
          <a:right>
            <a:lnRef idx="1">
              <a:schemeClr val="accent3"/>
            </a:lnRef>
          </a:right>
          <a:top>
            <a:lnRef idx="2">
              <a:schemeClr val="accent3"/>
            </a:lnRef>
          </a:top>
          <a:bottom>
            <a:lnRef idx="2">
              <a:schemeClr val="accent3"/>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3"/>
            </a:lnRef>
          </a:left>
          <a:right>
            <a:lnRef idx="1">
              <a:schemeClr val="accent3"/>
            </a:lnRef>
          </a:right>
          <a:top>
            <a:lnRef idx="1">
              <a:schemeClr val="accent3"/>
            </a:lnRef>
          </a:top>
          <a:bottom>
            <a:lnRef idx="2">
              <a:schemeClr val="lt1"/>
            </a:lnRef>
          </a:bottom>
          <a:insideH>
            <a:ln>
              <a:noFill/>
            </a:ln>
          </a:insideH>
          <a:insideV>
            <a:ln>
              <a:noFill/>
            </a:ln>
          </a:insideV>
        </a:tcBdr>
        <a:fill>
          <a:solidFill>
            <a:schemeClr val="accent3"/>
          </a:solidFill>
        </a:fill>
      </a:tcStyle>
    </a:firstRow>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 styleId="{616DA210-FB5B-4158-B5E0-FEB733F419BA}" styleName="Light Style 3">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band1H>
      <a:tcStyle>
        <a:tcBdr/>
        <a:fill>
          <a:solidFill>
            <a:schemeClr val="tx1">
              <a:alpha val="20000"/>
            </a:schemeClr>
          </a:solidFill>
        </a:fill>
      </a:tcStyle>
    </a:band1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50800" cmpd="dbl">
              <a:solidFill>
                <a:schemeClr val="tx1"/>
              </a:solidFill>
            </a:ln>
          </a:top>
        </a:tcBdr>
        <a:fill>
          <a:noFill/>
        </a:fill>
      </a:tcStyle>
    </a:lastRow>
    <a:firstRow>
      <a:tcTxStyle b="on"/>
      <a:tcStyle>
        <a:tcBdr>
          <a:bottom>
            <a:ln w="254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147" autoAdjust="0"/>
    <p:restoredTop sz="94660"/>
  </p:normalViewPr>
  <p:slideViewPr>
    <p:cSldViewPr snapToGrid="0">
      <p:cViewPr varScale="1">
        <p:scale>
          <a:sx n="61" d="100"/>
          <a:sy n="61" d="100"/>
        </p:scale>
        <p:origin x="1092" y="78"/>
      </p:cViewPr>
      <p:guideLst/>
    </p:cSldViewPr>
  </p:slideViewPr>
  <p:notesTextViewPr>
    <p:cViewPr>
      <p:scale>
        <a:sx n="1" d="1"/>
        <a:sy n="1" d="1"/>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4CE8678-3BAC-4B55-9C02-0D3627254D4A}" type="datetimeFigureOut">
              <a:rPr lang="en-US" smtClean="0"/>
              <a:t>1/10/2026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38CA46-4639-4C70-91A0-FB6F73AD12A2}" type="slidenum">
              <a:rPr lang="en-US" smtClean="0"/>
              <a:t>‹#›</a:t>
            </a:fld>
            <a:endParaRPr lang="en-US"/>
          </a:p>
        </p:txBody>
      </p:sp>
    </p:spTree>
    <p:extLst>
      <p:ext uri="{BB962C8B-B14F-4D97-AF65-F5344CB8AC3E}">
        <p14:creationId xmlns:p14="http://schemas.microsoft.com/office/powerpoint/2010/main" val="4242687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38CA46-4639-4C70-91A0-FB6F73AD12A2}" type="slidenum">
              <a:rPr lang="en-US" smtClean="0"/>
              <a:t>3</a:t>
            </a:fld>
            <a:endParaRPr lang="en-US"/>
          </a:p>
        </p:txBody>
      </p:sp>
    </p:spTree>
    <p:extLst>
      <p:ext uri="{BB962C8B-B14F-4D97-AF65-F5344CB8AC3E}">
        <p14:creationId xmlns:p14="http://schemas.microsoft.com/office/powerpoint/2010/main" val="387585213"/>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bg2">
                  <a:lumMod val="60000"/>
                  <a:lumOff val="4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2C8686CD-66C3-4B77-A6B3-94278253DBA1}" type="datetimeFigureOut">
              <a:rPr lang="en-US" smtClean="0"/>
              <a:t>1/10/2026</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19645116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686CD-66C3-4B77-A6B3-94278253DBA1}"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336281411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C8686CD-66C3-4B77-A6B3-94278253DBA1}"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309413434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161141211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C8686CD-66C3-4B77-A6B3-94278253DBA1}" type="datetimeFigureOut">
              <a:rPr lang="en-US" smtClean="0"/>
              <a:t>1/10/2026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55784849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C8686CD-66C3-4B77-A6B3-94278253DBA1}"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777725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C8686CD-66C3-4B77-A6B3-94278253DBA1}" type="datetimeFigureOut">
              <a:rPr lang="en-US" smtClean="0"/>
              <a:t>1/10/2026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267458172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3224536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231026048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193641961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349464769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9836084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C8686CD-66C3-4B77-A6B3-94278253DBA1}" type="datetimeFigureOut">
              <a:rPr lang="en-US" smtClean="0"/>
              <a:t>1/10/2026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133070062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8686CD-66C3-4B77-A6B3-94278253DBA1}"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4228247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C8686CD-66C3-4B77-A6B3-94278253DBA1}" type="datetimeFigureOut">
              <a:rPr lang="en-US" smtClean="0"/>
              <a:t>1/10/2026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352212444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686CD-66C3-4B77-A6B3-94278253DBA1}"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920910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C8686CD-66C3-4B77-A6B3-94278253DBA1}" type="datetimeFigureOut">
              <a:rPr lang="en-US" smtClean="0"/>
              <a:t>1/10/2026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A5C94297-8CBA-484D-A092-962FED47D4B1}" type="slidenum">
              <a:rPr lang="en-US" smtClean="0"/>
              <a:t>‹#›</a:t>
            </a:fld>
            <a:endParaRPr lang="en-US"/>
          </a:p>
        </p:txBody>
      </p:sp>
    </p:spTree>
    <p:extLst>
      <p:ext uri="{BB962C8B-B14F-4D97-AF65-F5344CB8AC3E}">
        <p14:creationId xmlns:p14="http://schemas.microsoft.com/office/powerpoint/2010/main" val="25797124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 xmlns:a14="http://schemas.microsoft.com/office/drawing/2010/main">
                <a:solidFill>
                  <a:srgbClr val="FFFFFF"/>
                </a:solidFill>
              </a14:hiddenFill>
            </a:ext>
          </a:extLst>
        </p:spPr>
      </p:pic>
      <p:grpSp>
        <p:nvGrpSpPr>
          <p:cNvPr id="8" name="Group 7"/>
          <p:cNvGrpSpPr/>
          <p:nvPr/>
        </p:nvGrpSpPr>
        <p:grpSpPr>
          <a:xfrm>
            <a:off x="-14288" y="0"/>
            <a:ext cx="12053888" cy="6858001"/>
            <a:chOff x="-14288" y="0"/>
            <a:chExt cx="12053888" cy="6858001"/>
          </a:xfrm>
        </p:grpSpPr>
        <p:grpSp>
          <p:nvGrpSpPr>
            <p:cNvPr id="9" name="Group 8"/>
            <p:cNvGrpSpPr/>
            <p:nvPr/>
          </p:nvGrpSpPr>
          <p:grpSpPr>
            <a:xfrm>
              <a:off x="-14288" y="0"/>
              <a:ext cx="1220788" cy="6858001"/>
              <a:chOff x="-14288" y="0"/>
              <a:chExt cx="1220788" cy="6858001"/>
            </a:xfrm>
            <a:gradFill flip="none" rotWithShape="1">
              <a:gsLst>
                <a:gs pos="0">
                  <a:schemeClr val="tx2"/>
                </a:gs>
                <a:gs pos="100000">
                  <a:schemeClr val="bg2">
                    <a:lumMod val="60000"/>
                    <a:lumOff val="40000"/>
                  </a:schemeClr>
                </a:gs>
              </a:gsLst>
              <a:lin ang="5400000" scaled="0"/>
              <a:tileRect/>
            </a:grad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grpSp>
        <p:grpSp>
          <p:nvGrpSpPr>
            <p:cNvPr id="10" name="Group 9"/>
            <p:cNvGrpSpPr/>
            <p:nvPr/>
          </p:nvGrpSpPr>
          <p:grpSpPr>
            <a:xfrm>
              <a:off x="11364912" y="0"/>
              <a:ext cx="674688" cy="6848476"/>
              <a:chOff x="11364912" y="0"/>
              <a:chExt cx="674688" cy="6848476"/>
            </a:xfrm>
            <a:gradFill flip="none" rotWithShape="1">
              <a:gsLst>
                <a:gs pos="0">
                  <a:schemeClr val="tx2">
                    <a:alpha val="80000"/>
                  </a:schemeClr>
                </a:gs>
                <a:gs pos="100000">
                  <a:schemeClr val="bg2">
                    <a:lumMod val="60000"/>
                    <a:lumOff val="40000"/>
                    <a:alpha val="60000"/>
                  </a:schemeClr>
                </a:gs>
              </a:gsLst>
              <a:lin ang="5400000" scaled="0"/>
              <a:tileRect/>
            </a:grad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 xmlns:a14="http://schemas.microsoft.com/office/drawing/2010/main" w="9525">
                    <a:solidFill>
                      <a:srgbClr val="000000"/>
                    </a:solidFill>
                    <a:round/>
                    <a:headEnd/>
                    <a:tailEnd/>
                  </a14:hiddenLine>
                </a:ext>
              </a:extLst>
            </p:spPr>
            <p:txBody>
              <a:bodyPr/>
              <a:lstStyle/>
              <a:p>
                <a:endParaRPr 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 xmlns:a14="http://schemas.microsoft.com/office/drawing/2010/main" w="9525">
                    <a:solidFill>
                      <a:srgbClr val="000000"/>
                    </a:solidFill>
                    <a:miter lim="800000"/>
                    <a:headEnd/>
                    <a:tailEnd/>
                  </a14:hiddenLine>
                </a:ext>
              </a:extLst>
            </p:spPr>
            <p:txBody>
              <a:bodyPr/>
              <a:lstStyle/>
              <a:p>
                <a:endParaRPr 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C8686CD-66C3-4B77-A6B3-94278253DBA1}" type="datetimeFigureOut">
              <a:rPr lang="en-US" smtClean="0"/>
              <a:t>1/10/2026</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A5C94297-8CBA-484D-A092-962FED47D4B1}" type="slidenum">
              <a:rPr lang="en-US" smtClean="0"/>
              <a:t>‹#›</a:t>
            </a:fld>
            <a:endParaRPr lang="en-US"/>
          </a:p>
        </p:txBody>
      </p:sp>
    </p:spTree>
    <p:extLst>
      <p:ext uri="{BB962C8B-B14F-4D97-AF65-F5344CB8AC3E}">
        <p14:creationId xmlns:p14="http://schemas.microsoft.com/office/powerpoint/2010/main" val="282617751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effectLst>
            <a:outerShdw blurRad="177800" dist="38100" dir="2700000" algn="tl">
              <a:srgbClr val="000000">
                <a:alpha val="24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46D78D-5ED3-40FB-9AE5-16AE35404B2C}"/>
              </a:ext>
            </a:extLst>
          </p:cNvPr>
          <p:cNvSpPr>
            <a:spLocks noGrp="1"/>
          </p:cNvSpPr>
          <p:nvPr>
            <p:ph type="title"/>
          </p:nvPr>
        </p:nvSpPr>
        <p:spPr>
          <a:xfrm>
            <a:off x="634562" y="1843750"/>
            <a:ext cx="10922876" cy="1325563"/>
          </a:xfrm>
        </p:spPr>
        <p:txBody>
          <a:bodyPr/>
          <a:lstStyle/>
          <a:p>
            <a:r>
              <a:rPr lang="en-US" b="1" dirty="0"/>
              <a:t>CompTIA Security+ (SY0-701) Learning Summary</a:t>
            </a:r>
          </a:p>
        </p:txBody>
      </p:sp>
      <p:sp>
        <p:nvSpPr>
          <p:cNvPr id="3" name="Content Placeholder 2">
            <a:extLst>
              <a:ext uri="{FF2B5EF4-FFF2-40B4-BE49-F238E27FC236}">
                <a16:creationId xmlns:a16="http://schemas.microsoft.com/office/drawing/2014/main" id="{1A7F0A5A-0511-4C61-A90F-B1C4C46357F5}"/>
              </a:ext>
            </a:extLst>
          </p:cNvPr>
          <p:cNvSpPr>
            <a:spLocks noGrp="1"/>
          </p:cNvSpPr>
          <p:nvPr>
            <p:ph idx="1"/>
          </p:nvPr>
        </p:nvSpPr>
        <p:spPr>
          <a:xfrm>
            <a:off x="1676400" y="3010261"/>
            <a:ext cx="10515600" cy="4351338"/>
          </a:xfrm>
        </p:spPr>
        <p:txBody>
          <a:bodyPr/>
          <a:lstStyle/>
          <a:p>
            <a:r>
              <a:rPr lang="en-US" dirty="0"/>
              <a:t>Presented by: </a:t>
            </a:r>
            <a:r>
              <a:rPr lang="en-US" b="1" dirty="0"/>
              <a:t>Ibrahim Khan</a:t>
            </a:r>
          </a:p>
          <a:p>
            <a:r>
              <a:rPr lang="en-US" dirty="0"/>
              <a:t>Under the program of TISS Winter Internship Program 2025-26</a:t>
            </a:r>
          </a:p>
        </p:txBody>
      </p:sp>
    </p:spTree>
    <p:extLst>
      <p:ext uri="{BB962C8B-B14F-4D97-AF65-F5344CB8AC3E}">
        <p14:creationId xmlns:p14="http://schemas.microsoft.com/office/powerpoint/2010/main" val="40485426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C1CCE2-2117-62DE-992D-C7F1CBDA9AA6}"/>
              </a:ext>
            </a:extLst>
          </p:cNvPr>
          <p:cNvSpPr>
            <a:spLocks noGrp="1"/>
          </p:cNvSpPr>
          <p:nvPr>
            <p:ph type="title"/>
          </p:nvPr>
        </p:nvSpPr>
        <p:spPr>
          <a:xfrm>
            <a:off x="836611" y="1066799"/>
            <a:ext cx="10515600" cy="1345688"/>
          </a:xfrm>
        </p:spPr>
        <p:txBody>
          <a:bodyPr/>
          <a:lstStyle/>
          <a:p>
            <a:pPr algn="ctr"/>
            <a:r>
              <a:rPr lang="en-US" b="1" dirty="0"/>
              <a:t>What is CompTIA Security+</a:t>
            </a:r>
          </a:p>
        </p:txBody>
      </p:sp>
      <p:sp>
        <p:nvSpPr>
          <p:cNvPr id="3" name="Content Placeholder 2">
            <a:extLst>
              <a:ext uri="{FF2B5EF4-FFF2-40B4-BE49-F238E27FC236}">
                <a16:creationId xmlns:a16="http://schemas.microsoft.com/office/drawing/2014/main" id="{B5A4FCE3-0839-1FAA-EF73-07E9A37857EC}"/>
              </a:ext>
            </a:extLst>
          </p:cNvPr>
          <p:cNvSpPr>
            <a:spLocks noGrp="1"/>
          </p:cNvSpPr>
          <p:nvPr>
            <p:ph idx="1"/>
          </p:nvPr>
        </p:nvSpPr>
        <p:spPr/>
        <p:txBody>
          <a:bodyPr/>
          <a:lstStyle/>
          <a:p>
            <a:r>
              <a:rPr lang="en-US" dirty="0"/>
              <a:t>CompTIA Security+ is the best global certification that establishes the essential skills required for core security and a career in IT security.</a:t>
            </a:r>
          </a:p>
          <a:p>
            <a:r>
              <a:rPr lang="en-US" dirty="0"/>
              <a:t>It showcases professionals' capabilities in securing networks, applications, and devices, ensuring data integrity, confidentiality, and availability. </a:t>
            </a:r>
          </a:p>
          <a:p>
            <a:r>
              <a:rPr lang="en-US" dirty="0"/>
              <a:t>As the most widely recognized credential, it is best for advancing in the dynamic field of cybersecurity.</a:t>
            </a:r>
          </a:p>
        </p:txBody>
      </p:sp>
    </p:spTree>
    <p:extLst>
      <p:ext uri="{BB962C8B-B14F-4D97-AF65-F5344CB8AC3E}">
        <p14:creationId xmlns:p14="http://schemas.microsoft.com/office/powerpoint/2010/main" val="260932333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1AC934E-4220-EE9F-5CBD-685C22A8F6A0}"/>
              </a:ext>
            </a:extLst>
          </p:cNvPr>
          <p:cNvSpPr>
            <a:spLocks noGrp="1"/>
          </p:cNvSpPr>
          <p:nvPr>
            <p:ph idx="1"/>
          </p:nvPr>
        </p:nvSpPr>
        <p:spPr>
          <a:xfrm>
            <a:off x="813477" y="929149"/>
            <a:ext cx="10561867" cy="5375787"/>
          </a:xfrm>
        </p:spPr>
        <p:txBody>
          <a:bodyPr>
            <a:normAutofit fontScale="92500" lnSpcReduction="10000"/>
          </a:bodyPr>
          <a:lstStyle/>
          <a:p>
            <a:pPr marL="0" indent="0">
              <a:buNone/>
            </a:pPr>
            <a:r>
              <a:rPr lang="en-US" dirty="0"/>
              <a:t>The </a:t>
            </a:r>
            <a:r>
              <a:rPr lang="en-US" b="1" dirty="0"/>
              <a:t>CIA triad</a:t>
            </a:r>
            <a:r>
              <a:rPr lang="en-US" dirty="0"/>
              <a:t> is a fundamental model in information security, guiding the protection of data by focusing on three core principles: </a:t>
            </a:r>
            <a:r>
              <a:rPr lang="en-US" b="1" dirty="0"/>
              <a:t>Confidentiality</a:t>
            </a:r>
            <a:r>
              <a:rPr lang="en-US" dirty="0"/>
              <a:t>, </a:t>
            </a:r>
            <a:r>
              <a:rPr lang="en-US" b="1" dirty="0"/>
              <a:t>Integrity</a:t>
            </a:r>
            <a:r>
              <a:rPr lang="en-US" dirty="0"/>
              <a:t> and </a:t>
            </a:r>
            <a:r>
              <a:rPr lang="en-US" b="1" dirty="0"/>
              <a:t>Availability</a:t>
            </a:r>
            <a:r>
              <a:rPr lang="en-US" dirty="0"/>
              <a:t>. It forms the bedrock for designing security systems, policies, and controls, balancing access with protection to maintain secure and reliable digital assets.</a:t>
            </a:r>
          </a:p>
          <a:p>
            <a:pPr marL="0" indent="0">
              <a:buNone/>
            </a:pPr>
            <a:r>
              <a:rPr lang="en-US" b="1" dirty="0">
                <a:effectLst/>
              </a:rPr>
              <a:t>Confidentiality</a:t>
            </a:r>
            <a:r>
              <a:rPr lang="en-US" dirty="0"/>
              <a:t> means the data is kept private and secret from unauthorized users. To maintain confidentiality, we use authentication methods such as usernames, passwords, and biometrics, along with encryption to ensure that only authorized users can access the data. </a:t>
            </a:r>
          </a:p>
          <a:p>
            <a:pPr marL="0" indent="0">
              <a:buNone/>
            </a:pPr>
            <a:r>
              <a:rPr lang="en-US" b="1" dirty="0">
                <a:effectLst/>
              </a:rPr>
              <a:t>Integrity</a:t>
            </a:r>
            <a:r>
              <a:rPr lang="en-US" dirty="0">
                <a:effectLst/>
              </a:rPr>
              <a:t> </a:t>
            </a:r>
            <a:r>
              <a:rPr lang="en-US" dirty="0"/>
              <a:t>means the data is correct and authentic. To maintain integrity, we use encryption to protect data from unauthorized tampering and hashing to verify that the data has not been altered.</a:t>
            </a:r>
          </a:p>
          <a:p>
            <a:pPr marL="0" indent="0">
              <a:buNone/>
            </a:pPr>
            <a:r>
              <a:rPr lang="en-US" b="1" dirty="0">
                <a:effectLst/>
              </a:rPr>
              <a:t>Availability</a:t>
            </a:r>
            <a:r>
              <a:rPr lang="en-US" dirty="0"/>
              <a:t> means the data and systems are accessible to authorized users whenever needed. To maintain availability, we use backups, disaster recovery plans, and protection against attacks like ransomware and DDOS to keep services running.</a:t>
            </a:r>
          </a:p>
        </p:txBody>
      </p:sp>
      <p:pic>
        <p:nvPicPr>
          <p:cNvPr id="6" name="Picture 5">
            <a:extLst>
              <a:ext uri="{FF2B5EF4-FFF2-40B4-BE49-F238E27FC236}">
                <a16:creationId xmlns:a16="http://schemas.microsoft.com/office/drawing/2014/main" id="{292DEE9C-5B5D-03E5-FE00-F10CA61598A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893666" y="4971338"/>
            <a:ext cx="2573984" cy="1915025"/>
          </a:xfrm>
          <a:prstGeom prst="rect">
            <a:avLst/>
          </a:prstGeom>
        </p:spPr>
      </p:pic>
      <p:sp>
        <p:nvSpPr>
          <p:cNvPr id="2" name="Title 1">
            <a:extLst>
              <a:ext uri="{FF2B5EF4-FFF2-40B4-BE49-F238E27FC236}">
                <a16:creationId xmlns:a16="http://schemas.microsoft.com/office/drawing/2014/main" id="{707C6D86-7DCD-A591-957E-DD23160C335B}"/>
              </a:ext>
            </a:extLst>
          </p:cNvPr>
          <p:cNvSpPr>
            <a:spLocks noGrp="1"/>
          </p:cNvSpPr>
          <p:nvPr>
            <p:ph type="title"/>
          </p:nvPr>
        </p:nvSpPr>
        <p:spPr>
          <a:xfrm>
            <a:off x="1141412" y="0"/>
            <a:ext cx="9905998" cy="1478570"/>
          </a:xfrm>
        </p:spPr>
        <p:txBody>
          <a:bodyPr/>
          <a:lstStyle/>
          <a:p>
            <a:pPr algn="ctr"/>
            <a:r>
              <a:rPr lang="en-US" b="1" dirty="0"/>
              <a:t>CIA triad</a:t>
            </a:r>
          </a:p>
        </p:txBody>
      </p:sp>
    </p:spTree>
    <p:extLst>
      <p:ext uri="{BB962C8B-B14F-4D97-AF65-F5344CB8AC3E}">
        <p14:creationId xmlns:p14="http://schemas.microsoft.com/office/powerpoint/2010/main" val="2980652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85E3BC6-3736-4722-89AD-F020FDEDFA9B}"/>
              </a:ext>
            </a:extLst>
          </p:cNvPr>
          <p:cNvSpPr>
            <a:spLocks noGrp="1"/>
          </p:cNvSpPr>
          <p:nvPr>
            <p:ph idx="1"/>
          </p:nvPr>
        </p:nvSpPr>
        <p:spPr>
          <a:xfrm>
            <a:off x="623988" y="58994"/>
            <a:ext cx="10944023" cy="3067665"/>
          </a:xfrm>
        </p:spPr>
        <p:txBody>
          <a:bodyPr>
            <a:normAutofit/>
          </a:bodyPr>
          <a:lstStyle/>
          <a:p>
            <a:pPr marL="0" indent="0">
              <a:buNone/>
            </a:pPr>
            <a:endParaRPr lang="en-US" dirty="0"/>
          </a:p>
          <a:p>
            <a:pPr marL="0" indent="0">
              <a:buNone/>
            </a:pPr>
            <a:r>
              <a:rPr lang="en-US" b="1" dirty="0"/>
              <a:t>AAA framework </a:t>
            </a:r>
            <a:r>
              <a:rPr lang="en-US" dirty="0"/>
              <a:t>stands for Authentication, Authorization, and Accounting a security model used to control access to systems.</a:t>
            </a:r>
          </a:p>
          <a:p>
            <a:pPr lvl="1"/>
            <a:r>
              <a:rPr lang="en-US" b="1" dirty="0"/>
              <a:t>Authentication: </a:t>
            </a:r>
            <a:r>
              <a:rPr lang="en-US" dirty="0"/>
              <a:t>Verifying who you are (e.g., logging in with a password or fingerprint).</a:t>
            </a:r>
          </a:p>
          <a:p>
            <a:pPr lvl="1"/>
            <a:r>
              <a:rPr lang="en-US" b="1" dirty="0"/>
              <a:t>Authorization: </a:t>
            </a:r>
            <a:r>
              <a:rPr lang="en-US" dirty="0"/>
              <a:t>Determining what you’re allowed to do after you’re authenticated.</a:t>
            </a:r>
          </a:p>
          <a:p>
            <a:pPr lvl="1"/>
            <a:r>
              <a:rPr lang="en-US" b="1" dirty="0"/>
              <a:t>Accounting: </a:t>
            </a:r>
            <a:r>
              <a:rPr lang="en-US" dirty="0"/>
              <a:t>Tracking what you did—logging usage, actions, or resource consumption.</a:t>
            </a:r>
          </a:p>
        </p:txBody>
      </p:sp>
      <p:sp>
        <p:nvSpPr>
          <p:cNvPr id="2" name="Content Placeholder 2">
            <a:extLst>
              <a:ext uri="{FF2B5EF4-FFF2-40B4-BE49-F238E27FC236}">
                <a16:creationId xmlns:a16="http://schemas.microsoft.com/office/drawing/2014/main" id="{C8970632-E5FA-F48C-B5C9-E34B136851FD}"/>
              </a:ext>
            </a:extLst>
          </p:cNvPr>
          <p:cNvSpPr txBox="1">
            <a:spLocks/>
          </p:cNvSpPr>
          <p:nvPr/>
        </p:nvSpPr>
        <p:spPr>
          <a:xfrm>
            <a:off x="180668" y="3731342"/>
            <a:ext cx="10944023" cy="2403987"/>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effectLst>
                  <a:outerShdw blurRad="152400" dist="38100" dir="2700000" algn="tl">
                    <a:srgbClr val="000000">
                      <a:alpha val="36000"/>
                    </a:srgbClr>
                  </a:outerShdw>
                </a:effectLst>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effectLst>
                  <a:outerShdw blurRad="152400" dist="38100" dir="2700000" algn="tl">
                    <a:srgbClr val="000000">
                      <a:alpha val="36000"/>
                    </a:srgbClr>
                  </a:outerShdw>
                </a:effectLst>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effectLst>
                  <a:outerShdw blurRad="152400" dist="38100" dir="2700000" algn="tl">
                    <a:srgbClr val="000000">
                      <a:alpha val="36000"/>
                    </a:srgbClr>
                  </a:outerShdw>
                </a:effectLst>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effectLst>
                  <a:outerShdw blurRad="152400" dist="38100" dir="2700000" algn="tl">
                    <a:srgbClr val="000000">
                      <a:alpha val="36000"/>
                    </a:srgbClr>
                  </a:outerShdw>
                </a:effectLst>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457200" lvl="1" indent="0">
              <a:buFont typeface="Arial" panose="020B0604020202020204" pitchFamily="34" charset="0"/>
              <a:buNone/>
            </a:pPr>
            <a:r>
              <a:rPr lang="en-US" sz="2400" b="1" dirty="0"/>
              <a:t>Vulnerability </a:t>
            </a:r>
            <a:r>
              <a:rPr lang="en-US" sz="2400" dirty="0"/>
              <a:t>scanning is the automated process of identifying, analyzing, and reporting security weaknesses</a:t>
            </a:r>
          </a:p>
          <a:p>
            <a:pPr marL="457200" lvl="1" indent="0">
              <a:buFont typeface="Arial" panose="020B0604020202020204" pitchFamily="34" charset="0"/>
              <a:buNone/>
            </a:pPr>
            <a:r>
              <a:rPr lang="en-US" sz="2400" b="1" dirty="0"/>
              <a:t>Threat intelligence </a:t>
            </a:r>
            <a:r>
              <a:rPr lang="en-US" sz="2400" dirty="0"/>
              <a:t>in cybersecurity is the collection, analysis, and application of data about cyber threats</a:t>
            </a:r>
          </a:p>
        </p:txBody>
      </p:sp>
    </p:spTree>
    <p:extLst>
      <p:ext uri="{BB962C8B-B14F-4D97-AF65-F5344CB8AC3E}">
        <p14:creationId xmlns:p14="http://schemas.microsoft.com/office/powerpoint/2010/main" val="209485285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924CFE-7E84-C27B-4D08-E1331BF6FAB1}"/>
              </a:ext>
            </a:extLst>
          </p:cNvPr>
          <p:cNvSpPr>
            <a:spLocks noGrp="1"/>
          </p:cNvSpPr>
          <p:nvPr>
            <p:ph type="title"/>
          </p:nvPr>
        </p:nvSpPr>
        <p:spPr>
          <a:xfrm>
            <a:off x="1141412" y="0"/>
            <a:ext cx="9905998" cy="1478570"/>
          </a:xfrm>
        </p:spPr>
        <p:txBody>
          <a:bodyPr/>
          <a:lstStyle/>
          <a:p>
            <a:pPr algn="ctr"/>
            <a:r>
              <a:rPr lang="en-US" b="1" dirty="0"/>
              <a:t>Encryption</a:t>
            </a:r>
          </a:p>
        </p:txBody>
      </p:sp>
      <p:sp>
        <p:nvSpPr>
          <p:cNvPr id="3" name="Content Placeholder 2">
            <a:extLst>
              <a:ext uri="{FF2B5EF4-FFF2-40B4-BE49-F238E27FC236}">
                <a16:creationId xmlns:a16="http://schemas.microsoft.com/office/drawing/2014/main" id="{3C5B7412-32D0-BD78-85AB-7F1D026AD370}"/>
              </a:ext>
            </a:extLst>
          </p:cNvPr>
          <p:cNvSpPr>
            <a:spLocks noGrp="1"/>
          </p:cNvSpPr>
          <p:nvPr>
            <p:ph idx="1"/>
          </p:nvPr>
        </p:nvSpPr>
        <p:spPr>
          <a:xfrm>
            <a:off x="737419" y="899651"/>
            <a:ext cx="11241598" cy="5766619"/>
          </a:xfrm>
        </p:spPr>
        <p:txBody>
          <a:bodyPr>
            <a:normAutofit/>
          </a:bodyPr>
          <a:lstStyle/>
          <a:p>
            <a:pPr marL="0" indent="0">
              <a:buNone/>
            </a:pPr>
            <a:r>
              <a:rPr lang="en-US" b="1" dirty="0"/>
              <a:t>Encryption</a:t>
            </a:r>
            <a:r>
              <a:rPr lang="en-US" dirty="0"/>
              <a:t> is the process of turning readable data (</a:t>
            </a:r>
            <a:r>
              <a:rPr lang="en-US" i="1" dirty="0"/>
              <a:t>plaintext</a:t>
            </a:r>
            <a:r>
              <a:rPr lang="en-US" dirty="0"/>
              <a:t>) into unreadable data (</a:t>
            </a:r>
            <a:r>
              <a:rPr lang="en-US" i="1" dirty="0"/>
              <a:t>ciphertext</a:t>
            </a:r>
            <a:r>
              <a:rPr lang="en-US" dirty="0"/>
              <a:t>) so only authorized people can read it.</a:t>
            </a:r>
          </a:p>
          <a:p>
            <a:pPr marL="0" indent="0">
              <a:buNone/>
            </a:pPr>
            <a:endParaRPr lang="en-US" dirty="0"/>
          </a:p>
          <a:p>
            <a:r>
              <a:rPr lang="en-US" b="1" dirty="0"/>
              <a:t>AES (Advanced Encryption Standard)</a:t>
            </a:r>
            <a:r>
              <a:rPr lang="en-US" dirty="0"/>
              <a:t> is a very fast and secure </a:t>
            </a:r>
            <a:r>
              <a:rPr lang="en-US" b="1" dirty="0"/>
              <a:t>symmetric (</a:t>
            </a:r>
            <a:r>
              <a:rPr lang="en-US" dirty="0"/>
              <a:t>same key to encrypt </a:t>
            </a:r>
            <a:r>
              <a:rPr lang="en-US" i="1" dirty="0"/>
              <a:t>and</a:t>
            </a:r>
            <a:r>
              <a:rPr lang="en-US" dirty="0"/>
              <a:t> decrypt)</a:t>
            </a:r>
            <a:r>
              <a:rPr lang="en-US" b="1" dirty="0"/>
              <a:t> </a:t>
            </a:r>
            <a:r>
              <a:rPr lang="en-US" dirty="0"/>
              <a:t>encryption algorithm. Used for Wi-Fi, disk encryption, messaging apps, games, phones and common key sizes: 128, 192, 256 bits.</a:t>
            </a:r>
          </a:p>
          <a:p>
            <a:r>
              <a:rPr lang="en-US" b="1" dirty="0"/>
              <a:t>RSA</a:t>
            </a:r>
            <a:r>
              <a:rPr lang="en-US" dirty="0"/>
              <a:t> is an asymmetric (Public/Private key) encryption algorithm. Data encrypted with the public key can only be decrypted with the private key. Used for exchanging AES keys</a:t>
            </a:r>
          </a:p>
          <a:p>
            <a:pPr marL="0" indent="0">
              <a:buNone/>
            </a:pPr>
            <a:r>
              <a:rPr lang="en-US" dirty="0"/>
              <a:t>, Digital signatures and HTTPS connections.</a:t>
            </a:r>
          </a:p>
          <a:p>
            <a:r>
              <a:rPr lang="en-US" dirty="0"/>
              <a:t>A </a:t>
            </a:r>
            <a:r>
              <a:rPr lang="en-US" b="1" dirty="0"/>
              <a:t>TPM</a:t>
            </a:r>
            <a:r>
              <a:rPr lang="en-US" dirty="0"/>
              <a:t> is a hardware security chip built into motherboards. Used for Stores encryption keys, Protects against malware stealing keys and etc.</a:t>
            </a:r>
          </a:p>
          <a:p>
            <a:pPr marL="0" indent="0">
              <a:buNone/>
            </a:pPr>
            <a:endParaRPr lang="en-US" dirty="0"/>
          </a:p>
          <a:p>
            <a:pPr marL="0" indent="0">
              <a:buNone/>
            </a:pPr>
            <a:endParaRPr lang="en-US" dirty="0"/>
          </a:p>
        </p:txBody>
      </p:sp>
    </p:spTree>
    <p:extLst>
      <p:ext uri="{BB962C8B-B14F-4D97-AF65-F5344CB8AC3E}">
        <p14:creationId xmlns:p14="http://schemas.microsoft.com/office/powerpoint/2010/main" val="2538773874"/>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CEAA8C-63CB-50DF-2E2E-B8F09D69A782}"/>
              </a:ext>
            </a:extLst>
          </p:cNvPr>
          <p:cNvSpPr>
            <a:spLocks noGrp="1"/>
          </p:cNvSpPr>
          <p:nvPr>
            <p:ph type="title"/>
          </p:nvPr>
        </p:nvSpPr>
        <p:spPr>
          <a:xfrm>
            <a:off x="1141412" y="0"/>
            <a:ext cx="9905998" cy="1478570"/>
          </a:xfrm>
        </p:spPr>
        <p:txBody>
          <a:bodyPr/>
          <a:lstStyle/>
          <a:p>
            <a:pPr algn="ctr"/>
            <a:r>
              <a:rPr lang="en-US" b="1" dirty="0"/>
              <a:t>What is a threat actor?</a:t>
            </a:r>
          </a:p>
        </p:txBody>
      </p:sp>
      <p:sp>
        <p:nvSpPr>
          <p:cNvPr id="3" name="Content Placeholder 2">
            <a:extLst>
              <a:ext uri="{FF2B5EF4-FFF2-40B4-BE49-F238E27FC236}">
                <a16:creationId xmlns:a16="http://schemas.microsoft.com/office/drawing/2014/main" id="{6E1A4A75-67FA-6A6C-DA73-AB27F8A7E61F}"/>
              </a:ext>
            </a:extLst>
          </p:cNvPr>
          <p:cNvSpPr>
            <a:spLocks noGrp="1"/>
          </p:cNvSpPr>
          <p:nvPr>
            <p:ph idx="1"/>
          </p:nvPr>
        </p:nvSpPr>
        <p:spPr>
          <a:xfrm>
            <a:off x="707924" y="829071"/>
            <a:ext cx="11002296" cy="5199857"/>
          </a:xfrm>
        </p:spPr>
        <p:txBody>
          <a:bodyPr/>
          <a:lstStyle/>
          <a:p>
            <a:pPr marL="0" indent="0">
              <a:buNone/>
            </a:pPr>
            <a:r>
              <a:rPr lang="en-US" dirty="0"/>
              <a:t>A threat actor is any person or group that intentionally harms organizations, networks, or data. They exploit weaknesses to carry out cyberattacks like phishing, malware, or ransomware.</a:t>
            </a:r>
          </a:p>
        </p:txBody>
      </p:sp>
      <p:pic>
        <p:nvPicPr>
          <p:cNvPr id="5" name="Picture 4">
            <a:extLst>
              <a:ext uri="{FF2B5EF4-FFF2-40B4-BE49-F238E27FC236}">
                <a16:creationId xmlns:a16="http://schemas.microsoft.com/office/drawing/2014/main" id="{479579AD-62CC-D07C-7DBD-4F677625D30B}"/>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07115" y="2147011"/>
            <a:ext cx="10574592" cy="4595979"/>
          </a:xfrm>
          <a:prstGeom prst="rect">
            <a:avLst/>
          </a:prstGeom>
        </p:spPr>
      </p:pic>
    </p:spTree>
    <p:extLst>
      <p:ext uri="{BB962C8B-B14F-4D97-AF65-F5344CB8AC3E}">
        <p14:creationId xmlns:p14="http://schemas.microsoft.com/office/powerpoint/2010/main" val="5944398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F04208-00D2-2402-9A06-D7112480A858}"/>
              </a:ext>
            </a:extLst>
          </p:cNvPr>
          <p:cNvSpPr>
            <a:spLocks noGrp="1"/>
          </p:cNvSpPr>
          <p:nvPr>
            <p:ph type="title"/>
          </p:nvPr>
        </p:nvSpPr>
        <p:spPr>
          <a:xfrm>
            <a:off x="1141412" y="0"/>
            <a:ext cx="9905998" cy="1478570"/>
          </a:xfrm>
        </p:spPr>
        <p:txBody>
          <a:bodyPr/>
          <a:lstStyle/>
          <a:p>
            <a:pPr algn="ctr"/>
            <a:r>
              <a:rPr lang="en-US" b="1" dirty="0"/>
              <a:t>What is social engineering</a:t>
            </a:r>
            <a:r>
              <a:rPr lang="en-US" b="1" dirty="0">
                <a:latin typeface="Agency FB" panose="020B0503020202020204" pitchFamily="34" charset="0"/>
              </a:rPr>
              <a:t>?</a:t>
            </a:r>
          </a:p>
        </p:txBody>
      </p:sp>
      <p:sp>
        <p:nvSpPr>
          <p:cNvPr id="3" name="Content Placeholder 2">
            <a:extLst>
              <a:ext uri="{FF2B5EF4-FFF2-40B4-BE49-F238E27FC236}">
                <a16:creationId xmlns:a16="http://schemas.microsoft.com/office/drawing/2014/main" id="{DE0FB35F-7030-DB7D-3929-575EB2610929}"/>
              </a:ext>
            </a:extLst>
          </p:cNvPr>
          <p:cNvSpPr>
            <a:spLocks noGrp="1"/>
          </p:cNvSpPr>
          <p:nvPr>
            <p:ph idx="1"/>
          </p:nvPr>
        </p:nvSpPr>
        <p:spPr>
          <a:xfrm>
            <a:off x="740980" y="914400"/>
            <a:ext cx="10925504" cy="5574889"/>
          </a:xfrm>
        </p:spPr>
        <p:txBody>
          <a:bodyPr/>
          <a:lstStyle/>
          <a:p>
            <a:pPr marL="0" indent="0">
              <a:buNone/>
            </a:pPr>
            <a:r>
              <a:rPr lang="en-US" b="1" dirty="0"/>
              <a:t>Social Engineering </a:t>
            </a:r>
            <a:r>
              <a:rPr lang="en-US" dirty="0"/>
              <a:t>is the act of influencing someone to take an action that may not be in their best interest.</a:t>
            </a:r>
          </a:p>
          <a:p>
            <a:pPr marL="0" indent="0">
              <a:buNone/>
            </a:pPr>
            <a:endParaRPr lang="en-US" dirty="0"/>
          </a:p>
          <a:p>
            <a:pPr marL="0" indent="0">
              <a:buNone/>
            </a:pPr>
            <a:r>
              <a:rPr lang="en-US" dirty="0"/>
              <a:t>Common social engineering attacks:</a:t>
            </a:r>
          </a:p>
          <a:p>
            <a:pPr marL="0" indent="0">
              <a:buNone/>
            </a:pPr>
            <a:r>
              <a:rPr lang="en-US" b="1" dirty="0"/>
              <a:t>Phishing</a:t>
            </a:r>
            <a:r>
              <a:rPr lang="en-US" dirty="0"/>
              <a:t> is when attackers send fake messages (email, text, DMs, or websites) pretending to be a trusted organization or person to trick you into giving up information (like passwords) or clicking malicious links.</a:t>
            </a:r>
          </a:p>
          <a:p>
            <a:pPr marL="0" indent="0">
              <a:buNone/>
            </a:pPr>
            <a:r>
              <a:rPr lang="en-US" b="1" dirty="0"/>
              <a:t>Impersonation</a:t>
            </a:r>
            <a:r>
              <a:rPr lang="en-US" dirty="0"/>
              <a:t> is when someone pretends to be a specific person or authority (like a teacher, friend, company employee, or tech support) to gain trust and manipulate you.</a:t>
            </a:r>
          </a:p>
          <a:p>
            <a:pPr marL="0" indent="0">
              <a:buNone/>
            </a:pPr>
            <a:r>
              <a:rPr lang="en-US" dirty="0"/>
              <a:t>A </a:t>
            </a:r>
            <a:r>
              <a:rPr lang="en-US" b="1" dirty="0"/>
              <a:t>watering hole attack </a:t>
            </a:r>
            <a:r>
              <a:rPr lang="en-US" dirty="0"/>
              <a:t>targets a </a:t>
            </a:r>
            <a:r>
              <a:rPr lang="en-US" b="1" dirty="0"/>
              <a:t>specific group</a:t>
            </a:r>
            <a:r>
              <a:rPr lang="en-US" dirty="0"/>
              <a:t> by infecting a website that the group commonly visits. Instead of tricking you directly, attackers wait for you to come to them.</a:t>
            </a:r>
          </a:p>
          <a:p>
            <a:pPr marL="0" indent="0">
              <a:buNone/>
            </a:pPr>
            <a:endParaRPr lang="en-US" dirty="0"/>
          </a:p>
        </p:txBody>
      </p:sp>
    </p:spTree>
    <p:extLst>
      <p:ext uri="{BB962C8B-B14F-4D97-AF65-F5344CB8AC3E}">
        <p14:creationId xmlns:p14="http://schemas.microsoft.com/office/powerpoint/2010/main" val="424675395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ED4709-68E7-2E47-151F-9D0C0AB31934}"/>
              </a:ext>
            </a:extLst>
          </p:cNvPr>
          <p:cNvSpPr>
            <a:spLocks noGrp="1"/>
          </p:cNvSpPr>
          <p:nvPr>
            <p:ph type="title"/>
          </p:nvPr>
        </p:nvSpPr>
        <p:spPr>
          <a:xfrm>
            <a:off x="1141413" y="0"/>
            <a:ext cx="9905998" cy="1478570"/>
          </a:xfrm>
        </p:spPr>
        <p:txBody>
          <a:bodyPr/>
          <a:lstStyle/>
          <a:p>
            <a:pPr algn="ctr"/>
            <a:r>
              <a:rPr lang="en-US" b="1" dirty="0"/>
              <a:t>What is Vulnerabilities?</a:t>
            </a:r>
          </a:p>
        </p:txBody>
      </p:sp>
      <p:sp>
        <p:nvSpPr>
          <p:cNvPr id="3" name="Content Placeholder 2">
            <a:extLst>
              <a:ext uri="{FF2B5EF4-FFF2-40B4-BE49-F238E27FC236}">
                <a16:creationId xmlns:a16="http://schemas.microsoft.com/office/drawing/2014/main" id="{1809379E-F95D-0593-A4FF-DA7D61E0A83C}"/>
              </a:ext>
            </a:extLst>
          </p:cNvPr>
          <p:cNvSpPr>
            <a:spLocks noGrp="1"/>
          </p:cNvSpPr>
          <p:nvPr>
            <p:ph idx="1"/>
          </p:nvPr>
        </p:nvSpPr>
        <p:spPr>
          <a:xfrm>
            <a:off x="796413" y="800144"/>
            <a:ext cx="11090788" cy="3541714"/>
          </a:xfrm>
        </p:spPr>
        <p:txBody>
          <a:bodyPr/>
          <a:lstStyle/>
          <a:p>
            <a:pPr marL="0" indent="0">
              <a:buNone/>
            </a:pPr>
            <a:r>
              <a:rPr lang="en-US" dirty="0"/>
              <a:t>Weaknesses in systems, software, or processes. Attackers can exploit them to gain access or cause damage.</a:t>
            </a:r>
          </a:p>
        </p:txBody>
      </p:sp>
      <p:graphicFrame>
        <p:nvGraphicFramePr>
          <p:cNvPr id="4" name="Table 3">
            <a:extLst>
              <a:ext uri="{FF2B5EF4-FFF2-40B4-BE49-F238E27FC236}">
                <a16:creationId xmlns:a16="http://schemas.microsoft.com/office/drawing/2014/main" id="{B7FB70A3-C7F1-75F4-F368-950E2B842D2C}"/>
              </a:ext>
            </a:extLst>
          </p:cNvPr>
          <p:cNvGraphicFramePr>
            <a:graphicFrameLocks noGrp="1"/>
          </p:cNvGraphicFramePr>
          <p:nvPr>
            <p:extLst>
              <p:ext uri="{D42A27DB-BD31-4B8C-83A1-F6EECF244321}">
                <p14:modId xmlns:p14="http://schemas.microsoft.com/office/powerpoint/2010/main" val="1118542618"/>
              </p:ext>
            </p:extLst>
          </p:nvPr>
        </p:nvGraphicFramePr>
        <p:xfrm>
          <a:off x="710947" y="1737304"/>
          <a:ext cx="11176254" cy="4851400"/>
        </p:xfrm>
        <a:graphic>
          <a:graphicData uri="http://schemas.openxmlformats.org/drawingml/2006/table">
            <a:tbl>
              <a:tblPr firstRow="1" bandRow="1">
                <a:tableStyleId>{69C7853C-536D-4A76-A0AE-DD22124D55A5}</a:tableStyleId>
              </a:tblPr>
              <a:tblGrid>
                <a:gridCol w="3072638">
                  <a:extLst>
                    <a:ext uri="{9D8B030D-6E8A-4147-A177-3AD203B41FA5}">
                      <a16:colId xmlns:a16="http://schemas.microsoft.com/office/drawing/2014/main" val="1524885899"/>
                    </a:ext>
                  </a:extLst>
                </a:gridCol>
                <a:gridCol w="8103616">
                  <a:extLst>
                    <a:ext uri="{9D8B030D-6E8A-4147-A177-3AD203B41FA5}">
                      <a16:colId xmlns:a16="http://schemas.microsoft.com/office/drawing/2014/main" val="2771733882"/>
                    </a:ext>
                  </a:extLst>
                </a:gridCol>
              </a:tblGrid>
              <a:tr h="370840">
                <a:tc>
                  <a:txBody>
                    <a:bodyPr/>
                    <a:lstStyle/>
                    <a:p>
                      <a:r>
                        <a:rPr lang="en-US" b="1" dirty="0"/>
                        <a:t>Type</a:t>
                      </a:r>
                    </a:p>
                  </a:txBody>
                  <a:tcPr/>
                </a:tc>
                <a:tc>
                  <a:txBody>
                    <a:bodyPr/>
                    <a:lstStyle/>
                    <a:p>
                      <a:r>
                        <a:rPr lang="en-US" dirty="0"/>
                        <a:t>Description</a:t>
                      </a:r>
                    </a:p>
                  </a:txBody>
                  <a:tcPr/>
                </a:tc>
                <a:extLst>
                  <a:ext uri="{0D108BD9-81ED-4DB2-BD59-A6C34878D82A}">
                    <a16:rowId xmlns:a16="http://schemas.microsoft.com/office/drawing/2014/main" val="2184084838"/>
                  </a:ext>
                </a:extLst>
              </a:tr>
              <a:tr h="370840">
                <a:tc>
                  <a:txBody>
                    <a:bodyPr/>
                    <a:lstStyle/>
                    <a:p>
                      <a:pPr>
                        <a:buNone/>
                      </a:pPr>
                      <a:r>
                        <a:rPr lang="en-US" b="1" dirty="0"/>
                        <a:t>OS Vulnerabilities</a:t>
                      </a:r>
                    </a:p>
                  </a:txBody>
                  <a:tcPr anchor="ctr"/>
                </a:tc>
                <a:tc>
                  <a:txBody>
                    <a:bodyPr/>
                    <a:lstStyle/>
                    <a:p>
                      <a:r>
                        <a:rPr lang="en-US" b="1" dirty="0"/>
                        <a:t>Flaws in an operating system’s design or code. They can allow unauthorized access or system control.</a:t>
                      </a:r>
                    </a:p>
                  </a:txBody>
                  <a:tcPr/>
                </a:tc>
                <a:extLst>
                  <a:ext uri="{0D108BD9-81ED-4DB2-BD59-A6C34878D82A}">
                    <a16:rowId xmlns:a16="http://schemas.microsoft.com/office/drawing/2014/main" val="2436187251"/>
                  </a:ext>
                </a:extLst>
              </a:tr>
              <a:tr h="370840">
                <a:tc>
                  <a:txBody>
                    <a:bodyPr/>
                    <a:lstStyle/>
                    <a:p>
                      <a:r>
                        <a:rPr lang="en-US" b="1" dirty="0"/>
                        <a:t>SQL Injection</a:t>
                      </a:r>
                    </a:p>
                  </a:txBody>
                  <a:tcPr/>
                </a:tc>
                <a:tc>
                  <a:txBody>
                    <a:bodyPr/>
                    <a:lstStyle/>
                    <a:p>
                      <a:r>
                        <a:rPr lang="en-US" b="1" dirty="0"/>
                        <a:t>Malicious SQL code is inserted into input fields. This lets attackers access or manipulate databases.</a:t>
                      </a:r>
                    </a:p>
                  </a:txBody>
                  <a:tcPr/>
                </a:tc>
                <a:extLst>
                  <a:ext uri="{0D108BD9-81ED-4DB2-BD59-A6C34878D82A}">
                    <a16:rowId xmlns:a16="http://schemas.microsoft.com/office/drawing/2014/main" val="1558830963"/>
                  </a:ext>
                </a:extLst>
              </a:tr>
              <a:tr h="370840">
                <a:tc>
                  <a:txBody>
                    <a:bodyPr/>
                    <a:lstStyle/>
                    <a:p>
                      <a:r>
                        <a:rPr lang="en-US" b="1" dirty="0"/>
                        <a:t>Cross-Site Scripting (XSS)</a:t>
                      </a:r>
                    </a:p>
                  </a:txBody>
                  <a:tcPr/>
                </a:tc>
                <a:tc>
                  <a:txBody>
                    <a:bodyPr/>
                    <a:lstStyle/>
                    <a:p>
                      <a:r>
                        <a:rPr lang="en-US" b="1" dirty="0"/>
                        <a:t>Attackers inject harmful scripts into web pages. These scripts run in users’ browsers and steal data.</a:t>
                      </a:r>
                    </a:p>
                  </a:txBody>
                  <a:tcPr/>
                </a:tc>
                <a:extLst>
                  <a:ext uri="{0D108BD9-81ED-4DB2-BD59-A6C34878D82A}">
                    <a16:rowId xmlns:a16="http://schemas.microsoft.com/office/drawing/2014/main" val="454644584"/>
                  </a:ext>
                </a:extLst>
              </a:tr>
              <a:tr h="370840">
                <a:tc>
                  <a:txBody>
                    <a:bodyPr/>
                    <a:lstStyle/>
                    <a:p>
                      <a:r>
                        <a:rPr lang="en-US" b="1" dirty="0"/>
                        <a:t>Hardware Vulnerabilities</a:t>
                      </a:r>
                    </a:p>
                  </a:txBody>
                  <a:tcPr/>
                </a:tc>
                <a:tc>
                  <a:txBody>
                    <a:bodyPr/>
                    <a:lstStyle/>
                    <a:p>
                      <a:r>
                        <a:rPr lang="en-US" b="1" dirty="0"/>
                        <a:t>Weaknesses in physical components like CPUs or chips. They can be exploited to bypass software security.</a:t>
                      </a:r>
                    </a:p>
                  </a:txBody>
                  <a:tcPr/>
                </a:tc>
                <a:extLst>
                  <a:ext uri="{0D108BD9-81ED-4DB2-BD59-A6C34878D82A}">
                    <a16:rowId xmlns:a16="http://schemas.microsoft.com/office/drawing/2014/main" val="1800507784"/>
                  </a:ext>
                </a:extLst>
              </a:tr>
              <a:tr h="370840">
                <a:tc>
                  <a:txBody>
                    <a:bodyPr/>
                    <a:lstStyle/>
                    <a:p>
                      <a:r>
                        <a:rPr lang="en-US" b="1" dirty="0"/>
                        <a:t>Virtualization Vulnerabilities</a:t>
                      </a:r>
                    </a:p>
                  </a:txBody>
                  <a:tcPr/>
                </a:tc>
                <a:tc>
                  <a:txBody>
                    <a:bodyPr/>
                    <a:lstStyle/>
                    <a:p>
                      <a:r>
                        <a:rPr lang="en-US" b="1" dirty="0"/>
                        <a:t>Flaws in virtual machines or hypervisors. They may allow one VM to affect others or the host.</a:t>
                      </a:r>
                    </a:p>
                  </a:txBody>
                  <a:tcPr/>
                </a:tc>
                <a:extLst>
                  <a:ext uri="{0D108BD9-81ED-4DB2-BD59-A6C34878D82A}">
                    <a16:rowId xmlns:a16="http://schemas.microsoft.com/office/drawing/2014/main" val="2001737987"/>
                  </a:ext>
                </a:extLst>
              </a:tr>
              <a:tr h="399082">
                <a:tc>
                  <a:txBody>
                    <a:bodyPr/>
                    <a:lstStyle/>
                    <a:p>
                      <a:r>
                        <a:rPr lang="en-US" b="1" dirty="0"/>
                        <a:t>Misconfiguration Vulnerabilities</a:t>
                      </a:r>
                    </a:p>
                  </a:txBody>
                  <a:tcPr/>
                </a:tc>
                <a:tc>
                  <a:txBody>
                    <a:bodyPr/>
                    <a:lstStyle/>
                    <a:p>
                      <a:r>
                        <a:rPr lang="en-US" b="1" dirty="0"/>
                        <a:t>Security settings are incorrectly set or left default. This exposes systems to easy attacks.</a:t>
                      </a:r>
                    </a:p>
                  </a:txBody>
                  <a:tcPr/>
                </a:tc>
                <a:extLst>
                  <a:ext uri="{0D108BD9-81ED-4DB2-BD59-A6C34878D82A}">
                    <a16:rowId xmlns:a16="http://schemas.microsoft.com/office/drawing/2014/main" val="3994535739"/>
                  </a:ext>
                </a:extLst>
              </a:tr>
              <a:tr h="264216">
                <a:tc>
                  <a:txBody>
                    <a:bodyPr/>
                    <a:lstStyle/>
                    <a:p>
                      <a:r>
                        <a:rPr lang="en-US" b="1" dirty="0"/>
                        <a:t>Cloud Vulnerabilities</a:t>
                      </a:r>
                    </a:p>
                  </a:txBody>
                  <a:tcPr/>
                </a:tc>
                <a:tc>
                  <a:txBody>
                    <a:bodyPr/>
                    <a:lstStyle/>
                    <a:p>
                      <a:r>
                        <a:rPr lang="en-US" b="1" dirty="0"/>
                        <a:t>Security risks unique to cloud environments. Often caused by shared resources or poor access controls.</a:t>
                      </a:r>
                    </a:p>
                  </a:txBody>
                  <a:tcPr/>
                </a:tc>
                <a:extLst>
                  <a:ext uri="{0D108BD9-81ED-4DB2-BD59-A6C34878D82A}">
                    <a16:rowId xmlns:a16="http://schemas.microsoft.com/office/drawing/2014/main" val="3290878105"/>
                  </a:ext>
                </a:extLst>
              </a:tr>
            </a:tbl>
          </a:graphicData>
        </a:graphic>
      </p:graphicFrame>
    </p:spTree>
    <p:extLst>
      <p:ext uri="{BB962C8B-B14F-4D97-AF65-F5344CB8AC3E}">
        <p14:creationId xmlns:p14="http://schemas.microsoft.com/office/powerpoint/2010/main" val="138474065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17D466-21B9-E05B-F634-D580AD664BE8}"/>
              </a:ext>
            </a:extLst>
          </p:cNvPr>
          <p:cNvSpPr>
            <a:spLocks noGrp="1"/>
          </p:cNvSpPr>
          <p:nvPr>
            <p:ph type="title"/>
          </p:nvPr>
        </p:nvSpPr>
        <p:spPr>
          <a:xfrm>
            <a:off x="1141413" y="0"/>
            <a:ext cx="9905998" cy="1478570"/>
          </a:xfrm>
        </p:spPr>
        <p:txBody>
          <a:bodyPr/>
          <a:lstStyle/>
          <a:p>
            <a:pPr algn="ctr"/>
            <a:r>
              <a:rPr lang="en-US" b="1" dirty="0"/>
              <a:t>What is malware?</a:t>
            </a:r>
          </a:p>
        </p:txBody>
      </p:sp>
      <p:sp>
        <p:nvSpPr>
          <p:cNvPr id="3" name="Content Placeholder 2">
            <a:extLst>
              <a:ext uri="{FF2B5EF4-FFF2-40B4-BE49-F238E27FC236}">
                <a16:creationId xmlns:a16="http://schemas.microsoft.com/office/drawing/2014/main" id="{5D5267EA-86A3-3B00-8860-58D11F5297E6}"/>
              </a:ext>
            </a:extLst>
          </p:cNvPr>
          <p:cNvSpPr>
            <a:spLocks noGrp="1"/>
          </p:cNvSpPr>
          <p:nvPr>
            <p:ph idx="1"/>
          </p:nvPr>
        </p:nvSpPr>
        <p:spPr>
          <a:xfrm>
            <a:off x="796413" y="892635"/>
            <a:ext cx="10840064" cy="3541714"/>
          </a:xfrm>
        </p:spPr>
        <p:txBody>
          <a:bodyPr/>
          <a:lstStyle/>
          <a:p>
            <a:pPr marL="0" indent="0">
              <a:buNone/>
            </a:pPr>
            <a:r>
              <a:rPr lang="en-US" dirty="0"/>
              <a:t>Any harmful software designed to damage, disrupt, or gain unauthorized access to a system.</a:t>
            </a:r>
          </a:p>
        </p:txBody>
      </p:sp>
      <p:graphicFrame>
        <p:nvGraphicFramePr>
          <p:cNvPr id="5" name="Table 4">
            <a:extLst>
              <a:ext uri="{FF2B5EF4-FFF2-40B4-BE49-F238E27FC236}">
                <a16:creationId xmlns:a16="http://schemas.microsoft.com/office/drawing/2014/main" id="{AD19D0F5-CDDC-2AFE-D0F8-A2C681736F9B}"/>
              </a:ext>
            </a:extLst>
          </p:cNvPr>
          <p:cNvGraphicFramePr>
            <a:graphicFrameLocks noGrp="1"/>
          </p:cNvGraphicFramePr>
          <p:nvPr>
            <p:extLst>
              <p:ext uri="{D42A27DB-BD31-4B8C-83A1-F6EECF244321}">
                <p14:modId xmlns:p14="http://schemas.microsoft.com/office/powerpoint/2010/main" val="624777489"/>
              </p:ext>
            </p:extLst>
          </p:nvPr>
        </p:nvGraphicFramePr>
        <p:xfrm>
          <a:off x="685800" y="1870041"/>
          <a:ext cx="11061290" cy="4604504"/>
        </p:xfrm>
        <a:graphic>
          <a:graphicData uri="http://schemas.openxmlformats.org/drawingml/2006/table">
            <a:tbl>
              <a:tblPr firstRow="1" bandRow="1">
                <a:tableStyleId>{69C7853C-536D-4A76-A0AE-DD22124D55A5}</a:tableStyleId>
              </a:tblPr>
              <a:tblGrid>
                <a:gridCol w="3041032">
                  <a:extLst>
                    <a:ext uri="{9D8B030D-6E8A-4147-A177-3AD203B41FA5}">
                      <a16:colId xmlns:a16="http://schemas.microsoft.com/office/drawing/2014/main" val="1524885899"/>
                    </a:ext>
                  </a:extLst>
                </a:gridCol>
                <a:gridCol w="8020258">
                  <a:extLst>
                    <a:ext uri="{9D8B030D-6E8A-4147-A177-3AD203B41FA5}">
                      <a16:colId xmlns:a16="http://schemas.microsoft.com/office/drawing/2014/main" val="2771733882"/>
                    </a:ext>
                  </a:extLst>
                </a:gridCol>
              </a:tblGrid>
              <a:tr h="508855">
                <a:tc>
                  <a:txBody>
                    <a:bodyPr/>
                    <a:lstStyle/>
                    <a:p>
                      <a:r>
                        <a:rPr lang="en-US" b="1" dirty="0"/>
                        <a:t>Type</a:t>
                      </a:r>
                    </a:p>
                  </a:txBody>
                  <a:tcPr/>
                </a:tc>
                <a:tc>
                  <a:txBody>
                    <a:bodyPr/>
                    <a:lstStyle/>
                    <a:p>
                      <a:r>
                        <a:rPr lang="en-US" b="1" dirty="0"/>
                        <a:t>Description</a:t>
                      </a:r>
                    </a:p>
                  </a:txBody>
                  <a:tcPr/>
                </a:tc>
                <a:extLst>
                  <a:ext uri="{0D108BD9-81ED-4DB2-BD59-A6C34878D82A}">
                    <a16:rowId xmlns:a16="http://schemas.microsoft.com/office/drawing/2014/main" val="2184084838"/>
                  </a:ext>
                </a:extLst>
              </a:tr>
              <a:tr h="508855">
                <a:tc>
                  <a:txBody>
                    <a:bodyPr/>
                    <a:lstStyle/>
                    <a:p>
                      <a:pPr>
                        <a:buNone/>
                      </a:pPr>
                      <a:r>
                        <a:rPr lang="en-US" b="1" dirty="0"/>
                        <a:t>Virus</a:t>
                      </a:r>
                    </a:p>
                  </a:txBody>
                  <a:tcPr anchor="ctr"/>
                </a:tc>
                <a:tc>
                  <a:txBody>
                    <a:bodyPr/>
                    <a:lstStyle/>
                    <a:p>
                      <a:r>
                        <a:rPr lang="en-US" b="1" dirty="0"/>
                        <a:t>Malware that attaches itself to files and spreads when the infected file is opened.</a:t>
                      </a:r>
                    </a:p>
                  </a:txBody>
                  <a:tcPr/>
                </a:tc>
                <a:extLst>
                  <a:ext uri="{0D108BD9-81ED-4DB2-BD59-A6C34878D82A}">
                    <a16:rowId xmlns:a16="http://schemas.microsoft.com/office/drawing/2014/main" val="2436187251"/>
                  </a:ext>
                </a:extLst>
              </a:tr>
              <a:tr h="508855">
                <a:tc>
                  <a:txBody>
                    <a:bodyPr/>
                    <a:lstStyle/>
                    <a:p>
                      <a:r>
                        <a:rPr lang="en-US" b="1" dirty="0"/>
                        <a:t>Worm</a:t>
                      </a:r>
                    </a:p>
                  </a:txBody>
                  <a:tcPr/>
                </a:tc>
                <a:tc>
                  <a:txBody>
                    <a:bodyPr/>
                    <a:lstStyle/>
                    <a:p>
                      <a:pPr>
                        <a:buNone/>
                      </a:pPr>
                      <a:r>
                        <a:rPr lang="en-US" b="1" dirty="0"/>
                        <a:t>Malware that spreads automatically across networks without user action.</a:t>
                      </a:r>
                    </a:p>
                  </a:txBody>
                  <a:tcPr anchor="ctr"/>
                </a:tc>
                <a:extLst>
                  <a:ext uri="{0D108BD9-81ED-4DB2-BD59-A6C34878D82A}">
                    <a16:rowId xmlns:a16="http://schemas.microsoft.com/office/drawing/2014/main" val="1558830963"/>
                  </a:ext>
                </a:extLst>
              </a:tr>
              <a:tr h="508855">
                <a:tc>
                  <a:txBody>
                    <a:bodyPr/>
                    <a:lstStyle/>
                    <a:p>
                      <a:r>
                        <a:rPr lang="en-US" b="1" dirty="0"/>
                        <a:t>Ransomware</a:t>
                      </a:r>
                    </a:p>
                  </a:txBody>
                  <a:tcPr/>
                </a:tc>
                <a:tc>
                  <a:txBody>
                    <a:bodyPr/>
                    <a:lstStyle/>
                    <a:p>
                      <a:r>
                        <a:rPr lang="en-US" b="1" dirty="0"/>
                        <a:t>Malware that locks or encrypts data and demands money to restore access.</a:t>
                      </a:r>
                    </a:p>
                  </a:txBody>
                  <a:tcPr/>
                </a:tc>
                <a:extLst>
                  <a:ext uri="{0D108BD9-81ED-4DB2-BD59-A6C34878D82A}">
                    <a16:rowId xmlns:a16="http://schemas.microsoft.com/office/drawing/2014/main" val="454644584"/>
                  </a:ext>
                </a:extLst>
              </a:tr>
              <a:tr h="508855">
                <a:tc>
                  <a:txBody>
                    <a:bodyPr/>
                    <a:lstStyle/>
                    <a:p>
                      <a:r>
                        <a:rPr lang="en-US" b="1" dirty="0"/>
                        <a:t>Trojan Horse</a:t>
                      </a:r>
                    </a:p>
                  </a:txBody>
                  <a:tcPr/>
                </a:tc>
                <a:tc>
                  <a:txBody>
                    <a:bodyPr/>
                    <a:lstStyle/>
                    <a:p>
                      <a:r>
                        <a:rPr lang="en-US" b="1" dirty="0"/>
                        <a:t>Malware disguised as legitimate software to trick users into installing it.</a:t>
                      </a:r>
                    </a:p>
                  </a:txBody>
                  <a:tcPr/>
                </a:tc>
                <a:extLst>
                  <a:ext uri="{0D108BD9-81ED-4DB2-BD59-A6C34878D82A}">
                    <a16:rowId xmlns:a16="http://schemas.microsoft.com/office/drawing/2014/main" val="1800507784"/>
                  </a:ext>
                </a:extLst>
              </a:tr>
              <a:tr h="508855">
                <a:tc>
                  <a:txBody>
                    <a:bodyPr/>
                    <a:lstStyle/>
                    <a:p>
                      <a:r>
                        <a:rPr lang="en-US" b="1" dirty="0"/>
                        <a:t>Keylogger</a:t>
                      </a:r>
                    </a:p>
                  </a:txBody>
                  <a:tcPr/>
                </a:tc>
                <a:tc>
                  <a:txBody>
                    <a:bodyPr/>
                    <a:lstStyle/>
                    <a:p>
                      <a:pPr>
                        <a:buNone/>
                      </a:pPr>
                      <a:r>
                        <a:rPr lang="en-US" b="1" dirty="0"/>
                        <a:t>Malware that secretly records keystrokes to steal passwords or data.</a:t>
                      </a:r>
                    </a:p>
                  </a:txBody>
                  <a:tcPr anchor="ctr"/>
                </a:tc>
                <a:extLst>
                  <a:ext uri="{0D108BD9-81ED-4DB2-BD59-A6C34878D82A}">
                    <a16:rowId xmlns:a16="http://schemas.microsoft.com/office/drawing/2014/main" val="2001737987"/>
                  </a:ext>
                </a:extLst>
              </a:tr>
              <a:tr h="547608">
                <a:tc>
                  <a:txBody>
                    <a:bodyPr/>
                    <a:lstStyle/>
                    <a:p>
                      <a:r>
                        <a:rPr lang="en-US" b="1" dirty="0"/>
                        <a:t>Spyware</a:t>
                      </a:r>
                    </a:p>
                  </a:txBody>
                  <a:tcPr/>
                </a:tc>
                <a:tc>
                  <a:txBody>
                    <a:bodyPr/>
                    <a:lstStyle/>
                    <a:p>
                      <a:r>
                        <a:rPr lang="en-US" b="1" dirty="0"/>
                        <a:t>Malware that secretly monitors and collects user activity and information.</a:t>
                      </a:r>
                    </a:p>
                  </a:txBody>
                  <a:tcPr/>
                </a:tc>
                <a:extLst>
                  <a:ext uri="{0D108BD9-81ED-4DB2-BD59-A6C34878D82A}">
                    <a16:rowId xmlns:a16="http://schemas.microsoft.com/office/drawing/2014/main" val="3994535739"/>
                  </a:ext>
                </a:extLst>
              </a:tr>
              <a:tr h="501883">
                <a:tc>
                  <a:txBody>
                    <a:bodyPr/>
                    <a:lstStyle/>
                    <a:p>
                      <a:r>
                        <a:rPr lang="en-US" b="1" dirty="0"/>
                        <a:t>Logic Bomb</a:t>
                      </a:r>
                    </a:p>
                  </a:txBody>
                  <a:tcPr/>
                </a:tc>
                <a:tc>
                  <a:txBody>
                    <a:bodyPr/>
                    <a:lstStyle/>
                    <a:p>
                      <a:r>
                        <a:rPr lang="en-US" b="1" dirty="0"/>
                        <a:t>Malicious code that activates when a specific condition or time is met.</a:t>
                      </a:r>
                    </a:p>
                  </a:txBody>
                  <a:tcPr/>
                </a:tc>
                <a:extLst>
                  <a:ext uri="{0D108BD9-81ED-4DB2-BD59-A6C34878D82A}">
                    <a16:rowId xmlns:a16="http://schemas.microsoft.com/office/drawing/2014/main" val="3290878105"/>
                  </a:ext>
                </a:extLst>
              </a:tr>
              <a:tr h="501883">
                <a:tc>
                  <a:txBody>
                    <a:bodyPr/>
                    <a:lstStyle/>
                    <a:p>
                      <a:r>
                        <a:rPr lang="en-US" b="1" dirty="0"/>
                        <a:t>Rootkit</a:t>
                      </a:r>
                    </a:p>
                  </a:txBody>
                  <a:tcPr/>
                </a:tc>
                <a:tc>
                  <a:txBody>
                    <a:bodyPr/>
                    <a:lstStyle/>
                    <a:p>
                      <a:r>
                        <a:rPr lang="en-US" b="1" dirty="0"/>
                        <a:t>Malware that hides itself to gain long-term, privileged access to a system.</a:t>
                      </a:r>
                    </a:p>
                  </a:txBody>
                  <a:tcPr/>
                </a:tc>
                <a:extLst>
                  <a:ext uri="{0D108BD9-81ED-4DB2-BD59-A6C34878D82A}">
                    <a16:rowId xmlns:a16="http://schemas.microsoft.com/office/drawing/2014/main" val="4154176286"/>
                  </a:ext>
                </a:extLst>
              </a:tr>
            </a:tbl>
          </a:graphicData>
        </a:graphic>
      </p:graphicFrame>
    </p:spTree>
    <p:extLst>
      <p:ext uri="{BB962C8B-B14F-4D97-AF65-F5344CB8AC3E}">
        <p14:creationId xmlns:p14="http://schemas.microsoft.com/office/powerpoint/2010/main" val="256668415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C868323-F854-CFC2-6CF4-912552ED0611}"/>
              </a:ext>
            </a:extLst>
          </p:cNvPr>
          <p:cNvSpPr>
            <a:spLocks noGrp="1"/>
          </p:cNvSpPr>
          <p:nvPr>
            <p:ph type="title"/>
          </p:nvPr>
        </p:nvSpPr>
        <p:spPr>
          <a:xfrm>
            <a:off x="1141412" y="-73742"/>
            <a:ext cx="9905998" cy="1478570"/>
          </a:xfrm>
        </p:spPr>
        <p:txBody>
          <a:bodyPr/>
          <a:lstStyle/>
          <a:p>
            <a:pPr algn="ctr"/>
            <a:r>
              <a:rPr lang="en-US" b="1" dirty="0"/>
              <a:t>Common attacks in cybersecurity</a:t>
            </a:r>
          </a:p>
        </p:txBody>
      </p:sp>
      <p:graphicFrame>
        <p:nvGraphicFramePr>
          <p:cNvPr id="4" name="Table 3">
            <a:extLst>
              <a:ext uri="{FF2B5EF4-FFF2-40B4-BE49-F238E27FC236}">
                <a16:creationId xmlns:a16="http://schemas.microsoft.com/office/drawing/2014/main" id="{86FD8C8A-41D7-596A-5097-4F522C651061}"/>
              </a:ext>
            </a:extLst>
          </p:cNvPr>
          <p:cNvGraphicFramePr>
            <a:graphicFrameLocks noGrp="1"/>
          </p:cNvGraphicFramePr>
          <p:nvPr>
            <p:extLst>
              <p:ext uri="{D42A27DB-BD31-4B8C-83A1-F6EECF244321}">
                <p14:modId xmlns:p14="http://schemas.microsoft.com/office/powerpoint/2010/main" val="3721673563"/>
              </p:ext>
            </p:extLst>
          </p:nvPr>
        </p:nvGraphicFramePr>
        <p:xfrm>
          <a:off x="563766" y="1014634"/>
          <a:ext cx="11061290" cy="5730731"/>
        </p:xfrm>
        <a:graphic>
          <a:graphicData uri="http://schemas.openxmlformats.org/drawingml/2006/table">
            <a:tbl>
              <a:tblPr firstRow="1" bandRow="1">
                <a:tableStyleId>{69C7853C-536D-4A76-A0AE-DD22124D55A5}</a:tableStyleId>
              </a:tblPr>
              <a:tblGrid>
                <a:gridCol w="3041032">
                  <a:extLst>
                    <a:ext uri="{9D8B030D-6E8A-4147-A177-3AD203B41FA5}">
                      <a16:colId xmlns:a16="http://schemas.microsoft.com/office/drawing/2014/main" val="1524885899"/>
                    </a:ext>
                  </a:extLst>
                </a:gridCol>
                <a:gridCol w="8020258">
                  <a:extLst>
                    <a:ext uri="{9D8B030D-6E8A-4147-A177-3AD203B41FA5}">
                      <a16:colId xmlns:a16="http://schemas.microsoft.com/office/drawing/2014/main" val="2771733882"/>
                    </a:ext>
                  </a:extLst>
                </a:gridCol>
              </a:tblGrid>
              <a:tr h="508855">
                <a:tc>
                  <a:txBody>
                    <a:bodyPr/>
                    <a:lstStyle/>
                    <a:p>
                      <a:r>
                        <a:rPr lang="en-US" b="1" dirty="0"/>
                        <a:t>Type</a:t>
                      </a:r>
                    </a:p>
                  </a:txBody>
                  <a:tcPr/>
                </a:tc>
                <a:tc>
                  <a:txBody>
                    <a:bodyPr/>
                    <a:lstStyle/>
                    <a:p>
                      <a:r>
                        <a:rPr lang="en-US" b="1" dirty="0"/>
                        <a:t>Description</a:t>
                      </a:r>
                    </a:p>
                  </a:txBody>
                  <a:tcPr/>
                </a:tc>
                <a:extLst>
                  <a:ext uri="{0D108BD9-81ED-4DB2-BD59-A6C34878D82A}">
                    <a16:rowId xmlns:a16="http://schemas.microsoft.com/office/drawing/2014/main" val="2184084838"/>
                  </a:ext>
                </a:extLst>
              </a:tr>
              <a:tr h="508855">
                <a:tc>
                  <a:txBody>
                    <a:bodyPr/>
                    <a:lstStyle/>
                    <a:p>
                      <a:pPr>
                        <a:buNone/>
                      </a:pPr>
                      <a:r>
                        <a:rPr lang="en-US" b="1" dirty="0"/>
                        <a:t>Physical attacks</a:t>
                      </a:r>
                    </a:p>
                  </a:txBody>
                  <a:tcPr anchor="ctr"/>
                </a:tc>
                <a:tc>
                  <a:txBody>
                    <a:bodyPr/>
                    <a:lstStyle/>
                    <a:p>
                      <a:r>
                        <a:rPr lang="en-US" b="1" dirty="0"/>
                        <a:t>Gaining physical access to systems or devices to steal, damage, or manipulate hardware and data.</a:t>
                      </a:r>
                    </a:p>
                  </a:txBody>
                  <a:tcPr/>
                </a:tc>
                <a:extLst>
                  <a:ext uri="{0D108BD9-81ED-4DB2-BD59-A6C34878D82A}">
                    <a16:rowId xmlns:a16="http://schemas.microsoft.com/office/drawing/2014/main" val="2436187251"/>
                  </a:ext>
                </a:extLst>
              </a:tr>
              <a:tr h="508855">
                <a:tc>
                  <a:txBody>
                    <a:bodyPr/>
                    <a:lstStyle/>
                    <a:p>
                      <a:r>
                        <a:rPr lang="en-US" b="1" dirty="0"/>
                        <a:t>DDoS attacks</a:t>
                      </a:r>
                    </a:p>
                  </a:txBody>
                  <a:tcPr/>
                </a:tc>
                <a:tc>
                  <a:txBody>
                    <a:bodyPr/>
                    <a:lstStyle/>
                    <a:p>
                      <a:pPr>
                        <a:buNone/>
                      </a:pPr>
                      <a:r>
                        <a:rPr lang="en-US" b="1" dirty="0"/>
                        <a:t>Flooding a server or network with excessive traffic to make services unavailable.</a:t>
                      </a:r>
                    </a:p>
                  </a:txBody>
                  <a:tcPr anchor="ctr"/>
                </a:tc>
                <a:extLst>
                  <a:ext uri="{0D108BD9-81ED-4DB2-BD59-A6C34878D82A}">
                    <a16:rowId xmlns:a16="http://schemas.microsoft.com/office/drawing/2014/main" val="1558830963"/>
                  </a:ext>
                </a:extLst>
              </a:tr>
              <a:tr h="508855">
                <a:tc>
                  <a:txBody>
                    <a:bodyPr/>
                    <a:lstStyle/>
                    <a:p>
                      <a:r>
                        <a:rPr lang="en-US" b="1" dirty="0"/>
                        <a:t>DNS attacks</a:t>
                      </a:r>
                    </a:p>
                  </a:txBody>
                  <a:tcPr/>
                </a:tc>
                <a:tc>
                  <a:txBody>
                    <a:bodyPr/>
                    <a:lstStyle/>
                    <a:p>
                      <a:r>
                        <a:rPr lang="en-US" b="1" dirty="0"/>
                        <a:t>Exploiting the Domain Name System to redirect users or disrupt network services.</a:t>
                      </a:r>
                    </a:p>
                  </a:txBody>
                  <a:tcPr/>
                </a:tc>
                <a:extLst>
                  <a:ext uri="{0D108BD9-81ED-4DB2-BD59-A6C34878D82A}">
                    <a16:rowId xmlns:a16="http://schemas.microsoft.com/office/drawing/2014/main" val="454644584"/>
                  </a:ext>
                </a:extLst>
              </a:tr>
              <a:tr h="508855">
                <a:tc>
                  <a:txBody>
                    <a:bodyPr/>
                    <a:lstStyle/>
                    <a:p>
                      <a:r>
                        <a:rPr lang="en-US" b="1" dirty="0"/>
                        <a:t>Wireless attacks</a:t>
                      </a:r>
                    </a:p>
                  </a:txBody>
                  <a:tcPr/>
                </a:tc>
                <a:tc>
                  <a:txBody>
                    <a:bodyPr/>
                    <a:lstStyle/>
                    <a:p>
                      <a:r>
                        <a:rPr lang="en-US" b="1" dirty="0"/>
                        <a:t>Targeting wireless networks to intercept data, spoof access points, or break encryption.</a:t>
                      </a:r>
                    </a:p>
                  </a:txBody>
                  <a:tcPr/>
                </a:tc>
                <a:extLst>
                  <a:ext uri="{0D108BD9-81ED-4DB2-BD59-A6C34878D82A}">
                    <a16:rowId xmlns:a16="http://schemas.microsoft.com/office/drawing/2014/main" val="1800507784"/>
                  </a:ext>
                </a:extLst>
              </a:tr>
              <a:tr h="508855">
                <a:tc>
                  <a:txBody>
                    <a:bodyPr/>
                    <a:lstStyle/>
                    <a:p>
                      <a:r>
                        <a:rPr lang="en-US" b="1" dirty="0"/>
                        <a:t>On-path attacks</a:t>
                      </a:r>
                    </a:p>
                  </a:txBody>
                  <a:tcPr/>
                </a:tc>
                <a:tc>
                  <a:txBody>
                    <a:bodyPr/>
                    <a:lstStyle/>
                    <a:p>
                      <a:pPr>
                        <a:buNone/>
                      </a:pPr>
                      <a:r>
                        <a:rPr lang="en-US" b="1" dirty="0"/>
                        <a:t>Intercepting and possibly altering communication between two parties without their knowledge.</a:t>
                      </a:r>
                    </a:p>
                  </a:txBody>
                  <a:tcPr anchor="ctr"/>
                </a:tc>
                <a:extLst>
                  <a:ext uri="{0D108BD9-81ED-4DB2-BD59-A6C34878D82A}">
                    <a16:rowId xmlns:a16="http://schemas.microsoft.com/office/drawing/2014/main" val="2001737987"/>
                  </a:ext>
                </a:extLst>
              </a:tr>
              <a:tr h="547608">
                <a:tc>
                  <a:txBody>
                    <a:bodyPr/>
                    <a:lstStyle/>
                    <a:p>
                      <a:r>
                        <a:rPr lang="en-US" b="1" dirty="0"/>
                        <a:t>Replay attacks</a:t>
                      </a:r>
                    </a:p>
                  </a:txBody>
                  <a:tcPr/>
                </a:tc>
                <a:tc>
                  <a:txBody>
                    <a:bodyPr/>
                    <a:lstStyle/>
                    <a:p>
                      <a:r>
                        <a:rPr lang="en-US" b="1" dirty="0"/>
                        <a:t>Capturing legitimate transmissions and replaying them to gain unauthorized access.</a:t>
                      </a:r>
                    </a:p>
                  </a:txBody>
                  <a:tcPr/>
                </a:tc>
                <a:extLst>
                  <a:ext uri="{0D108BD9-81ED-4DB2-BD59-A6C34878D82A}">
                    <a16:rowId xmlns:a16="http://schemas.microsoft.com/office/drawing/2014/main" val="3994535739"/>
                  </a:ext>
                </a:extLst>
              </a:tr>
              <a:tr h="501883">
                <a:tc>
                  <a:txBody>
                    <a:bodyPr/>
                    <a:lstStyle/>
                    <a:p>
                      <a:r>
                        <a:rPr lang="en-US" b="1" dirty="0"/>
                        <a:t>Application attacks</a:t>
                      </a:r>
                    </a:p>
                  </a:txBody>
                  <a:tcPr/>
                </a:tc>
                <a:tc>
                  <a:txBody>
                    <a:bodyPr/>
                    <a:lstStyle/>
                    <a:p>
                      <a:r>
                        <a:rPr lang="en-US" b="1" dirty="0"/>
                        <a:t>Exploiting software or web application vulnerabilities to access or manipulate data.</a:t>
                      </a:r>
                    </a:p>
                  </a:txBody>
                  <a:tcPr/>
                </a:tc>
                <a:extLst>
                  <a:ext uri="{0D108BD9-81ED-4DB2-BD59-A6C34878D82A}">
                    <a16:rowId xmlns:a16="http://schemas.microsoft.com/office/drawing/2014/main" val="3290878105"/>
                  </a:ext>
                </a:extLst>
              </a:tr>
              <a:tr h="501883">
                <a:tc>
                  <a:txBody>
                    <a:bodyPr/>
                    <a:lstStyle/>
                    <a:p>
                      <a:r>
                        <a:rPr lang="en-US" b="1" dirty="0"/>
                        <a:t>Cryptographic attacks</a:t>
                      </a:r>
                    </a:p>
                  </a:txBody>
                  <a:tcPr/>
                </a:tc>
                <a:tc>
                  <a:txBody>
                    <a:bodyPr/>
                    <a:lstStyle/>
                    <a:p>
                      <a:r>
                        <a:rPr lang="en-US" b="1" dirty="0"/>
                        <a:t>Attacking encryption algorithms to reveal or tamper with protected information.</a:t>
                      </a:r>
                    </a:p>
                  </a:txBody>
                  <a:tcPr/>
                </a:tc>
                <a:extLst>
                  <a:ext uri="{0D108BD9-81ED-4DB2-BD59-A6C34878D82A}">
                    <a16:rowId xmlns:a16="http://schemas.microsoft.com/office/drawing/2014/main" val="4154176286"/>
                  </a:ext>
                </a:extLst>
              </a:tr>
              <a:tr h="501883">
                <a:tc>
                  <a:txBody>
                    <a:bodyPr/>
                    <a:lstStyle/>
                    <a:p>
                      <a:r>
                        <a:rPr lang="en-US" b="1" dirty="0"/>
                        <a:t>Password attacks</a:t>
                      </a:r>
                    </a:p>
                  </a:txBody>
                  <a:tcPr/>
                </a:tc>
                <a:tc>
                  <a:txBody>
                    <a:bodyPr/>
                    <a:lstStyle/>
                    <a:p>
                      <a:r>
                        <a:rPr lang="en-US" b="1" dirty="0"/>
                        <a:t>Attempting to obtain passwords through guessing, phishing, or automated attacks.</a:t>
                      </a:r>
                    </a:p>
                  </a:txBody>
                  <a:tcPr/>
                </a:tc>
                <a:extLst>
                  <a:ext uri="{0D108BD9-81ED-4DB2-BD59-A6C34878D82A}">
                    <a16:rowId xmlns:a16="http://schemas.microsoft.com/office/drawing/2014/main" val="2200441607"/>
                  </a:ext>
                </a:extLst>
              </a:tr>
            </a:tbl>
          </a:graphicData>
        </a:graphic>
      </p:graphicFrame>
    </p:spTree>
    <p:extLst>
      <p:ext uri="{BB962C8B-B14F-4D97-AF65-F5344CB8AC3E}">
        <p14:creationId xmlns:p14="http://schemas.microsoft.com/office/powerpoint/2010/main" val="63130372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65DDC44-8B87-370B-B48C-EABB16DBAC28}"/>
              </a:ext>
            </a:extLst>
          </p:cNvPr>
          <p:cNvSpPr>
            <a:spLocks noGrp="1"/>
          </p:cNvSpPr>
          <p:nvPr>
            <p:ph type="title"/>
          </p:nvPr>
        </p:nvSpPr>
        <p:spPr>
          <a:xfrm>
            <a:off x="854485" y="0"/>
            <a:ext cx="10479852" cy="1478570"/>
          </a:xfrm>
        </p:spPr>
        <p:txBody>
          <a:bodyPr>
            <a:normAutofit/>
          </a:bodyPr>
          <a:lstStyle/>
          <a:p>
            <a:pPr algn="ctr"/>
            <a:r>
              <a:rPr lang="en-US" sz="2800" b="1" dirty="0"/>
              <a:t>Data protection, States, Classification, DLP and backup</a:t>
            </a:r>
          </a:p>
        </p:txBody>
      </p:sp>
      <p:sp>
        <p:nvSpPr>
          <p:cNvPr id="3" name="Content Placeholder 2">
            <a:extLst>
              <a:ext uri="{FF2B5EF4-FFF2-40B4-BE49-F238E27FC236}">
                <a16:creationId xmlns:a16="http://schemas.microsoft.com/office/drawing/2014/main" id="{7440EDFF-DC9F-4703-6BF6-C0D155A0D540}"/>
              </a:ext>
            </a:extLst>
          </p:cNvPr>
          <p:cNvSpPr>
            <a:spLocks noGrp="1"/>
          </p:cNvSpPr>
          <p:nvPr>
            <p:ph idx="1"/>
          </p:nvPr>
        </p:nvSpPr>
        <p:spPr>
          <a:xfrm>
            <a:off x="567559" y="1082839"/>
            <a:ext cx="11209282" cy="5617506"/>
          </a:xfrm>
        </p:spPr>
        <p:txBody>
          <a:bodyPr>
            <a:normAutofit/>
          </a:bodyPr>
          <a:lstStyle/>
          <a:p>
            <a:r>
              <a:rPr lang="en-US" b="1" dirty="0"/>
              <a:t>Data protection </a:t>
            </a:r>
            <a:r>
              <a:rPr lang="en-US" dirty="0"/>
              <a:t>safeguards organizational data from unauthorized access, alteration, and loss while supporting confidentiality, integrity, and availability.</a:t>
            </a:r>
          </a:p>
          <a:p>
            <a:r>
              <a:rPr lang="en-US" b="1" dirty="0"/>
              <a:t>Data states</a:t>
            </a:r>
            <a:r>
              <a:rPr lang="en-US" dirty="0"/>
              <a:t> exists as data at rest, data in transit, and data in use. Each state requires specific protections such as encryption, secure communication protocols, and endpoint security.</a:t>
            </a:r>
          </a:p>
          <a:p>
            <a:r>
              <a:rPr lang="en-US" b="1" dirty="0"/>
              <a:t>Data classification </a:t>
            </a:r>
            <a:r>
              <a:rPr lang="en-US" dirty="0"/>
              <a:t>assigns sensitivity levels such as public, internal, confidential, and restricted to ensure appropriate security controls are applied.</a:t>
            </a:r>
            <a:endParaRPr lang="en-US" b="1" dirty="0"/>
          </a:p>
          <a:p>
            <a:r>
              <a:rPr lang="en-US" b="1" dirty="0"/>
              <a:t>DLP</a:t>
            </a:r>
            <a:r>
              <a:rPr lang="en-US" dirty="0"/>
              <a:t> monitors and controls data to prevent unauthorized disclosure by enforcing security policies across all data states.</a:t>
            </a:r>
          </a:p>
          <a:p>
            <a:r>
              <a:rPr lang="en-US" b="1" dirty="0"/>
              <a:t>Backups</a:t>
            </a:r>
            <a:r>
              <a:rPr lang="en-US" dirty="0"/>
              <a:t> are copies of data created to protect against data loss caused by attacks.</a:t>
            </a:r>
          </a:p>
          <a:p>
            <a:pPr marL="0" indent="0">
              <a:buNone/>
            </a:pPr>
            <a:endParaRPr lang="en-US" dirty="0"/>
          </a:p>
        </p:txBody>
      </p:sp>
    </p:spTree>
    <p:extLst>
      <p:ext uri="{BB962C8B-B14F-4D97-AF65-F5344CB8AC3E}">
        <p14:creationId xmlns:p14="http://schemas.microsoft.com/office/powerpoint/2010/main" val="157172837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15DFD5-9DAD-46F5-6B77-3F63762FE0E0}"/>
              </a:ext>
            </a:extLst>
          </p:cNvPr>
          <p:cNvSpPr>
            <a:spLocks noGrp="1"/>
          </p:cNvSpPr>
          <p:nvPr>
            <p:ph type="title"/>
          </p:nvPr>
        </p:nvSpPr>
        <p:spPr>
          <a:xfrm>
            <a:off x="1141413" y="0"/>
            <a:ext cx="9905998" cy="1478570"/>
          </a:xfrm>
        </p:spPr>
        <p:txBody>
          <a:bodyPr/>
          <a:lstStyle/>
          <a:p>
            <a:pPr algn="ctr"/>
            <a:r>
              <a:rPr lang="en-US" b="1" dirty="0"/>
              <a:t>Security hardening</a:t>
            </a:r>
          </a:p>
        </p:txBody>
      </p:sp>
      <p:sp>
        <p:nvSpPr>
          <p:cNvPr id="3" name="Content Placeholder 2">
            <a:extLst>
              <a:ext uri="{FF2B5EF4-FFF2-40B4-BE49-F238E27FC236}">
                <a16:creationId xmlns:a16="http://schemas.microsoft.com/office/drawing/2014/main" id="{3DD4035D-F1F6-96F3-BD3E-76F5F5BE6A55}"/>
              </a:ext>
            </a:extLst>
          </p:cNvPr>
          <p:cNvSpPr>
            <a:spLocks noGrp="1"/>
          </p:cNvSpPr>
          <p:nvPr>
            <p:ph idx="1"/>
          </p:nvPr>
        </p:nvSpPr>
        <p:spPr>
          <a:xfrm>
            <a:off x="394138" y="972480"/>
            <a:ext cx="11429999" cy="5680568"/>
          </a:xfrm>
        </p:spPr>
        <p:txBody>
          <a:bodyPr/>
          <a:lstStyle/>
          <a:p>
            <a:pPr marL="0" indent="0" algn="ctr">
              <a:buNone/>
            </a:pPr>
            <a:r>
              <a:rPr lang="en-US" dirty="0">
                <a:effectLst/>
              </a:rPr>
              <a:t>Security hardening is the process of </a:t>
            </a:r>
            <a:r>
              <a:rPr lang="en-US" dirty="0"/>
              <a:t>reducing cyber attacks as much as possible.</a:t>
            </a:r>
          </a:p>
          <a:p>
            <a:pPr marL="0" indent="0">
              <a:buNone/>
            </a:pPr>
            <a:r>
              <a:rPr lang="en-US" b="1" dirty="0"/>
              <a:t>Patch Management:</a:t>
            </a:r>
            <a:r>
              <a:rPr lang="en-US" dirty="0"/>
              <a:t> Regularly update software and operating systems to fix vulnerabilities.</a:t>
            </a:r>
          </a:p>
          <a:p>
            <a:pPr marL="0" indent="0">
              <a:buNone/>
            </a:pPr>
            <a:r>
              <a:rPr lang="en-US" b="1" dirty="0"/>
              <a:t>Disable Unnecessary Services:</a:t>
            </a:r>
            <a:r>
              <a:rPr lang="en-US" dirty="0"/>
              <a:t> Turn off unused applications, ports, or features to reduce attack surfaces.</a:t>
            </a:r>
          </a:p>
          <a:p>
            <a:pPr marL="0" indent="0">
              <a:buNone/>
            </a:pPr>
            <a:r>
              <a:rPr lang="en-US" b="1" dirty="0"/>
              <a:t>Remove Default Accounts and Passwords: </a:t>
            </a:r>
            <a:r>
              <a:rPr lang="en-US" dirty="0"/>
              <a:t>Eliminate default credentials that attackers can exploit.</a:t>
            </a:r>
          </a:p>
          <a:p>
            <a:pPr marL="0" indent="0">
              <a:buNone/>
            </a:pPr>
            <a:r>
              <a:rPr lang="en-US" b="1" dirty="0"/>
              <a:t>Antivirus/Antimalware Protection:</a:t>
            </a:r>
            <a:r>
              <a:rPr lang="en-US" dirty="0"/>
              <a:t> Install and update endpoint protection to detect threats.</a:t>
            </a:r>
          </a:p>
          <a:p>
            <a:pPr marL="0" indent="0">
              <a:buNone/>
            </a:pPr>
            <a:r>
              <a:rPr lang="en-US" b="1" dirty="0"/>
              <a:t>Encryption:</a:t>
            </a:r>
            <a:r>
              <a:rPr lang="en-US" dirty="0"/>
              <a:t> Encrypt sensitive data at rest and in transit.</a:t>
            </a:r>
          </a:p>
          <a:p>
            <a:pPr marL="0" indent="0">
              <a:buNone/>
            </a:pPr>
            <a:r>
              <a:rPr lang="en-US" b="1" dirty="0"/>
              <a:t>User Account Management:</a:t>
            </a:r>
            <a:r>
              <a:rPr lang="en-US" dirty="0"/>
              <a:t> Apply least privilege, strong passwords, and role-based access controls.</a:t>
            </a:r>
          </a:p>
        </p:txBody>
      </p:sp>
    </p:spTree>
    <p:extLst>
      <p:ext uri="{BB962C8B-B14F-4D97-AF65-F5344CB8AC3E}">
        <p14:creationId xmlns:p14="http://schemas.microsoft.com/office/powerpoint/2010/main" val="25827859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000449-BA97-AA80-85BB-FACF820F3C48}"/>
              </a:ext>
            </a:extLst>
          </p:cNvPr>
          <p:cNvSpPr>
            <a:spLocks noGrp="1"/>
          </p:cNvSpPr>
          <p:nvPr>
            <p:ph type="title"/>
          </p:nvPr>
        </p:nvSpPr>
        <p:spPr>
          <a:xfrm>
            <a:off x="1141412" y="-58992"/>
            <a:ext cx="9905998" cy="1478570"/>
          </a:xfrm>
        </p:spPr>
        <p:txBody>
          <a:bodyPr/>
          <a:lstStyle/>
          <a:p>
            <a:pPr algn="ctr"/>
            <a:r>
              <a:rPr lang="en-US" b="1" dirty="0"/>
              <a:t>What Is Penetration Testing?</a:t>
            </a:r>
          </a:p>
        </p:txBody>
      </p:sp>
      <p:sp>
        <p:nvSpPr>
          <p:cNvPr id="3" name="Content Placeholder 2">
            <a:extLst>
              <a:ext uri="{FF2B5EF4-FFF2-40B4-BE49-F238E27FC236}">
                <a16:creationId xmlns:a16="http://schemas.microsoft.com/office/drawing/2014/main" id="{30F3FCFF-7B99-D61D-8C61-4B276FA66D37}"/>
              </a:ext>
            </a:extLst>
          </p:cNvPr>
          <p:cNvSpPr>
            <a:spLocks noGrp="1"/>
          </p:cNvSpPr>
          <p:nvPr>
            <p:ph idx="1"/>
          </p:nvPr>
        </p:nvSpPr>
        <p:spPr>
          <a:xfrm>
            <a:off x="796413" y="813024"/>
            <a:ext cx="10825316" cy="6044975"/>
          </a:xfrm>
        </p:spPr>
        <p:txBody>
          <a:bodyPr>
            <a:normAutofit fontScale="92500" lnSpcReduction="20000"/>
          </a:bodyPr>
          <a:lstStyle/>
          <a:p>
            <a:pPr marL="0" indent="0">
              <a:buNone/>
            </a:pPr>
            <a:r>
              <a:rPr lang="en-US" dirty="0"/>
              <a:t>Penetration testing or pen testing is a controlled and authorized attempt to find and exploit security weaknesses in a computer system, network, website, or an application.</a:t>
            </a:r>
          </a:p>
          <a:p>
            <a:pPr marL="0" indent="0">
              <a:buNone/>
            </a:pPr>
            <a:endParaRPr lang="en-US" dirty="0"/>
          </a:p>
          <a:p>
            <a:pPr marL="0" indent="0" algn="ctr">
              <a:buNone/>
            </a:pPr>
            <a:r>
              <a:rPr lang="en-US" sz="3600" b="1" dirty="0"/>
              <a:t>Penetration Testing Steps</a:t>
            </a:r>
          </a:p>
          <a:p>
            <a:pPr algn="ctr"/>
            <a:r>
              <a:rPr lang="en-US" b="1" dirty="0"/>
              <a:t>Planning &amp; Scope</a:t>
            </a:r>
            <a:br>
              <a:rPr lang="en-US" dirty="0"/>
            </a:br>
            <a:r>
              <a:rPr lang="en-US" dirty="0"/>
              <a:t>Define what systems can be tested and how</a:t>
            </a:r>
          </a:p>
          <a:p>
            <a:pPr algn="ctr"/>
            <a:r>
              <a:rPr lang="en-US" b="1" dirty="0"/>
              <a:t>Reconnaissance</a:t>
            </a:r>
            <a:br>
              <a:rPr lang="en-US" dirty="0"/>
            </a:br>
            <a:r>
              <a:rPr lang="en-US" dirty="0"/>
              <a:t>Gather information about the target (e.g., IPs, domains)</a:t>
            </a:r>
          </a:p>
          <a:p>
            <a:pPr algn="ctr"/>
            <a:r>
              <a:rPr lang="en-US" b="1" dirty="0"/>
              <a:t>Scanning</a:t>
            </a:r>
            <a:br>
              <a:rPr lang="en-US" dirty="0"/>
            </a:br>
            <a:r>
              <a:rPr lang="en-US" dirty="0"/>
              <a:t>Look for open ports, weak services, or misconfigurations</a:t>
            </a:r>
          </a:p>
          <a:p>
            <a:pPr algn="ctr"/>
            <a:r>
              <a:rPr lang="en-US" b="1" dirty="0"/>
              <a:t>Exploitation</a:t>
            </a:r>
            <a:br>
              <a:rPr lang="en-US" dirty="0"/>
            </a:br>
            <a:r>
              <a:rPr lang="en-US" dirty="0"/>
              <a:t>Try to exploit vulnerabilities safely</a:t>
            </a:r>
          </a:p>
          <a:p>
            <a:pPr algn="ctr"/>
            <a:r>
              <a:rPr lang="en-US" b="1" dirty="0"/>
              <a:t>Reporting</a:t>
            </a:r>
            <a:br>
              <a:rPr lang="en-US" dirty="0"/>
            </a:br>
            <a:r>
              <a:rPr lang="en-US" dirty="0"/>
              <a:t>Document findings and recommend fixes</a:t>
            </a:r>
          </a:p>
          <a:p>
            <a:pPr marL="0" indent="0">
              <a:buNone/>
            </a:pPr>
            <a:endParaRPr lang="en-US" dirty="0"/>
          </a:p>
        </p:txBody>
      </p:sp>
    </p:spTree>
    <p:extLst>
      <p:ext uri="{BB962C8B-B14F-4D97-AF65-F5344CB8AC3E}">
        <p14:creationId xmlns:p14="http://schemas.microsoft.com/office/powerpoint/2010/main" val="23446231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FCEC3E-F05A-3A1D-204D-4FEDBA3D244E}"/>
              </a:ext>
            </a:extLst>
          </p:cNvPr>
          <p:cNvSpPr>
            <a:spLocks noGrp="1"/>
          </p:cNvSpPr>
          <p:nvPr>
            <p:ph type="title"/>
          </p:nvPr>
        </p:nvSpPr>
        <p:spPr>
          <a:xfrm>
            <a:off x="1141413" y="0"/>
            <a:ext cx="9905998" cy="1478570"/>
          </a:xfrm>
        </p:spPr>
        <p:txBody>
          <a:bodyPr/>
          <a:lstStyle/>
          <a:p>
            <a:pPr algn="ctr"/>
            <a:r>
              <a:rPr lang="en-US" b="1" dirty="0"/>
              <a:t>Monitoring</a:t>
            </a:r>
          </a:p>
        </p:txBody>
      </p:sp>
      <p:sp>
        <p:nvSpPr>
          <p:cNvPr id="3" name="Content Placeholder 2">
            <a:extLst>
              <a:ext uri="{FF2B5EF4-FFF2-40B4-BE49-F238E27FC236}">
                <a16:creationId xmlns:a16="http://schemas.microsoft.com/office/drawing/2014/main" id="{E988B7E4-7CF8-C00A-106E-29A21CDC145C}"/>
              </a:ext>
            </a:extLst>
          </p:cNvPr>
          <p:cNvSpPr>
            <a:spLocks noGrp="1"/>
          </p:cNvSpPr>
          <p:nvPr>
            <p:ph idx="1"/>
          </p:nvPr>
        </p:nvSpPr>
        <p:spPr>
          <a:xfrm>
            <a:off x="766916" y="977125"/>
            <a:ext cx="11223523" cy="5703894"/>
          </a:xfrm>
        </p:spPr>
        <p:txBody>
          <a:bodyPr>
            <a:normAutofit/>
          </a:bodyPr>
          <a:lstStyle/>
          <a:p>
            <a:pPr marL="0" indent="0">
              <a:buNone/>
            </a:pPr>
            <a:r>
              <a:rPr lang="en-US" b="1" dirty="0"/>
              <a:t>Monitoring</a:t>
            </a:r>
            <a:r>
              <a:rPr lang="en-US" dirty="0"/>
              <a:t> is the continuous process of observing, collecting, and analyzing activities across systems and networks.</a:t>
            </a:r>
          </a:p>
          <a:p>
            <a:pPr marL="0" indent="0">
              <a:buNone/>
            </a:pPr>
            <a:endParaRPr lang="en-US" dirty="0"/>
          </a:p>
          <a:p>
            <a:pPr marL="0" indent="0">
              <a:buNone/>
            </a:pPr>
            <a:r>
              <a:rPr lang="en-US" b="1" dirty="0"/>
              <a:t>IDS/IPS: </a:t>
            </a:r>
            <a:r>
              <a:rPr lang="en-US" dirty="0"/>
              <a:t>Detect and block malicious network activity using Snort and Suricata.</a:t>
            </a:r>
          </a:p>
          <a:p>
            <a:pPr marL="0" indent="0">
              <a:buNone/>
            </a:pPr>
            <a:r>
              <a:rPr lang="en-US" b="1" dirty="0"/>
              <a:t>SIEM: </a:t>
            </a:r>
            <a:r>
              <a:rPr lang="en-US" dirty="0"/>
              <a:t>Collect, correlate, and analyze security logs using IBM Qradar and Splunk.</a:t>
            </a:r>
          </a:p>
          <a:p>
            <a:pPr marL="0" indent="0">
              <a:buNone/>
            </a:pPr>
            <a:r>
              <a:rPr lang="en-US" b="1" dirty="0"/>
              <a:t>EDR: </a:t>
            </a:r>
            <a:r>
              <a:rPr lang="en-US" dirty="0"/>
              <a:t>Monitor endpoint behavior and respond to threats using Kaspersky EDR and CrowdStrike.</a:t>
            </a:r>
          </a:p>
          <a:p>
            <a:pPr marL="0" indent="0">
              <a:buNone/>
            </a:pPr>
            <a:r>
              <a:rPr lang="en-US" b="1" dirty="0"/>
              <a:t>Cloud Security Monitoring: </a:t>
            </a:r>
            <a:r>
              <a:rPr lang="en-US" dirty="0"/>
              <a:t>Monitor cloud resources and activities using AWS CloudWatch and Azure Monitor.</a:t>
            </a:r>
          </a:p>
          <a:p>
            <a:pPr marL="0" indent="0">
              <a:buNone/>
            </a:pPr>
            <a:r>
              <a:rPr lang="en-US" b="1" dirty="0"/>
              <a:t>Security Orchestration, Automation and Response (SOAR): </a:t>
            </a:r>
            <a:r>
              <a:rPr lang="en-US" dirty="0"/>
              <a:t>Automate alert handling and incident response using Splunk SOAR and IBM Resilient.</a:t>
            </a:r>
          </a:p>
        </p:txBody>
      </p:sp>
    </p:spTree>
    <p:extLst>
      <p:ext uri="{BB962C8B-B14F-4D97-AF65-F5344CB8AC3E}">
        <p14:creationId xmlns:p14="http://schemas.microsoft.com/office/powerpoint/2010/main" val="343678810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CD16AC-272E-6F08-5546-6EA7DBFF6282}"/>
              </a:ext>
            </a:extLst>
          </p:cNvPr>
          <p:cNvSpPr>
            <a:spLocks noGrp="1"/>
          </p:cNvSpPr>
          <p:nvPr>
            <p:ph type="title"/>
          </p:nvPr>
        </p:nvSpPr>
        <p:spPr>
          <a:xfrm>
            <a:off x="1143001" y="-10748"/>
            <a:ext cx="9905998" cy="1478570"/>
          </a:xfrm>
        </p:spPr>
        <p:txBody>
          <a:bodyPr/>
          <a:lstStyle/>
          <a:p>
            <a:pPr algn="ctr"/>
            <a:r>
              <a:rPr lang="en-US" b="1" dirty="0"/>
              <a:t>Firewall</a:t>
            </a:r>
          </a:p>
        </p:txBody>
      </p:sp>
      <p:sp>
        <p:nvSpPr>
          <p:cNvPr id="3" name="Content Placeholder 2">
            <a:extLst>
              <a:ext uri="{FF2B5EF4-FFF2-40B4-BE49-F238E27FC236}">
                <a16:creationId xmlns:a16="http://schemas.microsoft.com/office/drawing/2014/main" id="{426A8CA9-2236-EA48-DECD-21EF04812B8D}"/>
              </a:ext>
            </a:extLst>
          </p:cNvPr>
          <p:cNvSpPr>
            <a:spLocks noGrp="1"/>
          </p:cNvSpPr>
          <p:nvPr>
            <p:ph idx="1"/>
          </p:nvPr>
        </p:nvSpPr>
        <p:spPr>
          <a:xfrm>
            <a:off x="560438" y="995872"/>
            <a:ext cx="11282517" cy="5714643"/>
          </a:xfrm>
        </p:spPr>
        <p:txBody>
          <a:bodyPr>
            <a:normAutofit/>
          </a:bodyPr>
          <a:lstStyle/>
          <a:p>
            <a:pPr marL="0" indent="0">
              <a:buNone/>
            </a:pPr>
            <a:r>
              <a:rPr lang="en-US" dirty="0"/>
              <a:t>A </a:t>
            </a:r>
            <a:r>
              <a:rPr lang="en-US" b="1" dirty="0"/>
              <a:t>firewall</a:t>
            </a:r>
            <a:r>
              <a:rPr lang="en-US" dirty="0"/>
              <a:t> is a network security device or software that monitors and controls incoming and outgoing network traffic based on predefined security rules.</a:t>
            </a:r>
          </a:p>
          <a:p>
            <a:pPr marL="0" indent="0">
              <a:buNone/>
            </a:pPr>
            <a:endParaRPr lang="en-US" dirty="0"/>
          </a:p>
          <a:p>
            <a:pPr marL="0" indent="0" algn="ctr">
              <a:buNone/>
            </a:pPr>
            <a:r>
              <a:rPr lang="en-US" b="1" dirty="0"/>
              <a:t>Types of Firewalls</a:t>
            </a:r>
          </a:p>
          <a:p>
            <a:r>
              <a:rPr lang="en-US" b="1" dirty="0"/>
              <a:t>Stateless: </a:t>
            </a:r>
            <a:r>
              <a:rPr lang="en-US" dirty="0"/>
              <a:t>Does not remember previous packets and filters traffic based only on rules (IP, port, protocol).</a:t>
            </a:r>
          </a:p>
          <a:p>
            <a:r>
              <a:rPr lang="en-US" b="1" dirty="0"/>
              <a:t>Stateful: </a:t>
            </a:r>
            <a:r>
              <a:rPr lang="en-US" dirty="0"/>
              <a:t>Remembers previous packets in a session and allows only packets that are part of a legitimate, established connection.</a:t>
            </a:r>
          </a:p>
          <a:p>
            <a:r>
              <a:rPr lang="en-US" b="1" dirty="0"/>
              <a:t>Next-Generation Firewall (NGFW): </a:t>
            </a:r>
            <a:r>
              <a:rPr lang="en-US" dirty="0"/>
              <a:t>Combines traditional firewall with IDS/IPS, application awareness, and threat intelligence and used in modern networks.</a:t>
            </a:r>
          </a:p>
          <a:p>
            <a:endParaRPr lang="en-US" dirty="0"/>
          </a:p>
          <a:p>
            <a:endParaRPr lang="en-US" dirty="0"/>
          </a:p>
          <a:p>
            <a:pPr marL="0" indent="0">
              <a:buNone/>
            </a:pPr>
            <a:endParaRPr lang="en-US" dirty="0"/>
          </a:p>
        </p:txBody>
      </p:sp>
    </p:spTree>
    <p:extLst>
      <p:ext uri="{BB962C8B-B14F-4D97-AF65-F5344CB8AC3E}">
        <p14:creationId xmlns:p14="http://schemas.microsoft.com/office/powerpoint/2010/main" val="15972499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0496A-38A4-B43A-B7DC-3EE73F0EFEBE}"/>
              </a:ext>
            </a:extLst>
          </p:cNvPr>
          <p:cNvSpPr>
            <a:spLocks noGrp="1"/>
          </p:cNvSpPr>
          <p:nvPr>
            <p:ph type="title"/>
          </p:nvPr>
        </p:nvSpPr>
        <p:spPr>
          <a:xfrm>
            <a:off x="1143001" y="74926"/>
            <a:ext cx="9905998" cy="1478570"/>
          </a:xfrm>
        </p:spPr>
        <p:txBody>
          <a:bodyPr/>
          <a:lstStyle/>
          <a:p>
            <a:pPr algn="ctr"/>
            <a:r>
              <a:rPr lang="en-US" b="1" dirty="0"/>
              <a:t>Identity and Access Management or IAM</a:t>
            </a:r>
          </a:p>
        </p:txBody>
      </p:sp>
      <p:sp>
        <p:nvSpPr>
          <p:cNvPr id="3" name="Content Placeholder 2">
            <a:extLst>
              <a:ext uri="{FF2B5EF4-FFF2-40B4-BE49-F238E27FC236}">
                <a16:creationId xmlns:a16="http://schemas.microsoft.com/office/drawing/2014/main" id="{336E150A-8EF4-3759-4D1E-6C1AF5954DB6}"/>
              </a:ext>
            </a:extLst>
          </p:cNvPr>
          <p:cNvSpPr>
            <a:spLocks noGrp="1"/>
          </p:cNvSpPr>
          <p:nvPr>
            <p:ph idx="1"/>
          </p:nvPr>
        </p:nvSpPr>
        <p:spPr>
          <a:xfrm>
            <a:off x="410497" y="1010622"/>
            <a:ext cx="11371006" cy="5772452"/>
          </a:xfrm>
        </p:spPr>
        <p:txBody>
          <a:bodyPr/>
          <a:lstStyle/>
          <a:p>
            <a:r>
              <a:rPr lang="en-US" b="1" dirty="0"/>
              <a:t>IAM</a:t>
            </a:r>
            <a:r>
              <a:rPr lang="en-US" dirty="0"/>
              <a:t> is a cybersecurity framework that ensures the right person has the right access to the right resources.</a:t>
            </a:r>
          </a:p>
          <a:p>
            <a:endParaRPr lang="en-US" dirty="0"/>
          </a:p>
          <a:p>
            <a:pPr marL="0" indent="0" algn="ctr">
              <a:buNone/>
            </a:pPr>
            <a:r>
              <a:rPr lang="en-US" b="1" dirty="0"/>
              <a:t>Key Functions of IAM</a:t>
            </a:r>
          </a:p>
          <a:p>
            <a:r>
              <a:rPr lang="en-US" b="1" dirty="0"/>
              <a:t>Identify</a:t>
            </a:r>
            <a:r>
              <a:rPr lang="en-US" dirty="0"/>
              <a:t> users (who you are)</a:t>
            </a:r>
          </a:p>
          <a:p>
            <a:r>
              <a:rPr lang="en-US" b="1" dirty="0"/>
              <a:t>Authenticate</a:t>
            </a:r>
            <a:r>
              <a:rPr lang="en-US" dirty="0"/>
              <a:t> users (verify identity)</a:t>
            </a:r>
          </a:p>
          <a:p>
            <a:r>
              <a:rPr lang="en-US" b="1" dirty="0"/>
              <a:t>Authorize</a:t>
            </a:r>
            <a:r>
              <a:rPr lang="en-US" dirty="0"/>
              <a:t> access (what you can access)</a:t>
            </a:r>
          </a:p>
          <a:p>
            <a:r>
              <a:rPr lang="en-US" b="1" dirty="0"/>
              <a:t>Manage</a:t>
            </a:r>
            <a:r>
              <a:rPr lang="en-US" dirty="0"/>
              <a:t> user accounts and permissions</a:t>
            </a:r>
          </a:p>
          <a:p>
            <a:r>
              <a:rPr lang="en-US" b="1" dirty="0"/>
              <a:t>Monitor</a:t>
            </a:r>
            <a:r>
              <a:rPr lang="en-US" dirty="0"/>
              <a:t> access activities</a:t>
            </a:r>
          </a:p>
          <a:p>
            <a:endParaRPr lang="en-US" dirty="0"/>
          </a:p>
        </p:txBody>
      </p:sp>
    </p:spTree>
    <p:extLst>
      <p:ext uri="{BB962C8B-B14F-4D97-AF65-F5344CB8AC3E}">
        <p14:creationId xmlns:p14="http://schemas.microsoft.com/office/powerpoint/2010/main" val="2617502380"/>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584B1-5273-2C82-0C3E-71793BD700C2}"/>
              </a:ext>
            </a:extLst>
          </p:cNvPr>
          <p:cNvSpPr>
            <a:spLocks noGrp="1"/>
          </p:cNvSpPr>
          <p:nvPr>
            <p:ph type="title"/>
          </p:nvPr>
        </p:nvSpPr>
        <p:spPr>
          <a:xfrm>
            <a:off x="1141412" y="0"/>
            <a:ext cx="9905998" cy="1478570"/>
          </a:xfrm>
        </p:spPr>
        <p:txBody>
          <a:bodyPr/>
          <a:lstStyle/>
          <a:p>
            <a:pPr algn="ctr"/>
            <a:r>
              <a:rPr lang="en-US" b="1" dirty="0"/>
              <a:t>Scripting and Automation</a:t>
            </a:r>
            <a:endParaRPr lang="en-US" dirty="0"/>
          </a:p>
        </p:txBody>
      </p:sp>
      <p:sp>
        <p:nvSpPr>
          <p:cNvPr id="3" name="Content Placeholder 2">
            <a:extLst>
              <a:ext uri="{FF2B5EF4-FFF2-40B4-BE49-F238E27FC236}">
                <a16:creationId xmlns:a16="http://schemas.microsoft.com/office/drawing/2014/main" id="{9838C6E1-526D-6654-604A-24DE823DE90E}"/>
              </a:ext>
            </a:extLst>
          </p:cNvPr>
          <p:cNvSpPr>
            <a:spLocks noGrp="1"/>
          </p:cNvSpPr>
          <p:nvPr>
            <p:ph idx="1"/>
          </p:nvPr>
        </p:nvSpPr>
        <p:spPr>
          <a:xfrm>
            <a:off x="707924" y="848390"/>
            <a:ext cx="11312012" cy="5758887"/>
          </a:xfrm>
        </p:spPr>
        <p:txBody>
          <a:bodyPr/>
          <a:lstStyle/>
          <a:p>
            <a:pPr marL="0" indent="0">
              <a:buNone/>
            </a:pPr>
            <a:r>
              <a:rPr lang="en-US" b="1" dirty="0"/>
              <a:t>Scripting and Automation</a:t>
            </a:r>
            <a:r>
              <a:rPr lang="en-US" dirty="0"/>
              <a:t> in cybersecurity involve using scripts and automated tools to perform security tasks automatically, reducing manual work, saving time, and minimizing human errors.</a:t>
            </a:r>
          </a:p>
          <a:p>
            <a:pPr marL="0" indent="0">
              <a:buNone/>
            </a:pPr>
            <a:endParaRPr lang="en-US" dirty="0"/>
          </a:p>
          <a:p>
            <a:pPr marL="0" indent="0" algn="ctr">
              <a:buNone/>
            </a:pPr>
            <a:r>
              <a:rPr lang="en-US" b="1" dirty="0"/>
              <a:t>Importance of Scripting &amp; Automation</a:t>
            </a:r>
          </a:p>
          <a:p>
            <a:r>
              <a:rPr lang="en-US" dirty="0"/>
              <a:t>Automate repetitive security tasks</a:t>
            </a:r>
          </a:p>
          <a:p>
            <a:r>
              <a:rPr lang="en-US" dirty="0"/>
              <a:t>Speed up threat detection and response</a:t>
            </a:r>
          </a:p>
          <a:p>
            <a:r>
              <a:rPr lang="en-US" dirty="0"/>
              <a:t>Improve accuracy and consistency</a:t>
            </a:r>
          </a:p>
          <a:p>
            <a:r>
              <a:rPr lang="en-US" dirty="0"/>
              <a:t>Reduce workload on security teams</a:t>
            </a:r>
          </a:p>
          <a:p>
            <a:pPr marL="0" indent="0">
              <a:buNone/>
            </a:pPr>
            <a:endParaRPr lang="en-US" dirty="0"/>
          </a:p>
        </p:txBody>
      </p:sp>
    </p:spTree>
    <p:extLst>
      <p:ext uri="{BB962C8B-B14F-4D97-AF65-F5344CB8AC3E}">
        <p14:creationId xmlns:p14="http://schemas.microsoft.com/office/powerpoint/2010/main" val="151744211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F3291F6-9DD6-3CCF-B217-A6B50529CC1D}"/>
              </a:ext>
            </a:extLst>
          </p:cNvPr>
          <p:cNvSpPr>
            <a:spLocks noGrp="1"/>
          </p:cNvSpPr>
          <p:nvPr>
            <p:ph type="title"/>
          </p:nvPr>
        </p:nvSpPr>
        <p:spPr>
          <a:xfrm>
            <a:off x="1143001" y="398207"/>
            <a:ext cx="9905998" cy="1478570"/>
          </a:xfrm>
        </p:spPr>
        <p:txBody>
          <a:bodyPr/>
          <a:lstStyle/>
          <a:p>
            <a:pPr algn="ctr"/>
            <a:r>
              <a:rPr lang="en-US" b="1" dirty="0"/>
              <a:t>Digital forensics</a:t>
            </a:r>
          </a:p>
        </p:txBody>
      </p:sp>
      <p:sp>
        <p:nvSpPr>
          <p:cNvPr id="3" name="Content Placeholder 2">
            <a:extLst>
              <a:ext uri="{FF2B5EF4-FFF2-40B4-BE49-F238E27FC236}">
                <a16:creationId xmlns:a16="http://schemas.microsoft.com/office/drawing/2014/main" id="{203DA758-9FD5-CD85-B78A-459DEFEC7154}"/>
              </a:ext>
            </a:extLst>
          </p:cNvPr>
          <p:cNvSpPr>
            <a:spLocks noGrp="1"/>
          </p:cNvSpPr>
          <p:nvPr>
            <p:ph idx="1"/>
          </p:nvPr>
        </p:nvSpPr>
        <p:spPr>
          <a:xfrm>
            <a:off x="693174" y="1478570"/>
            <a:ext cx="11208774" cy="5379429"/>
          </a:xfrm>
        </p:spPr>
        <p:txBody>
          <a:bodyPr/>
          <a:lstStyle/>
          <a:p>
            <a:pPr marL="0" indent="0">
              <a:buNone/>
            </a:pPr>
            <a:r>
              <a:rPr lang="en-US" dirty="0"/>
              <a:t>Digital forensics is the practice of identifying, preserving, analyzing, and presenting digital evidence in a manner that is technically sound and legally defensible. In cybersecurity operations, it plays a critical role in understanding what happened after a security incident.</a:t>
            </a:r>
          </a:p>
          <a:p>
            <a:pPr marL="0" indent="0">
              <a:buNone/>
            </a:pPr>
            <a:endParaRPr lang="en-US" dirty="0"/>
          </a:p>
          <a:p>
            <a:pPr marL="0" indent="0" algn="ctr">
              <a:buNone/>
            </a:pPr>
            <a:r>
              <a:rPr lang="en-US" b="1" dirty="0"/>
              <a:t>Importance of digital forensics.</a:t>
            </a:r>
          </a:p>
          <a:p>
            <a:r>
              <a:rPr lang="en-US" dirty="0"/>
              <a:t>To ensure digital evidence is admissible in court.</a:t>
            </a:r>
          </a:p>
          <a:p>
            <a:r>
              <a:rPr lang="en-US" dirty="0"/>
              <a:t>Digital evidence is critical for investigating cyberattacks like data breaches.</a:t>
            </a:r>
          </a:p>
          <a:p>
            <a:r>
              <a:rPr lang="en-US" dirty="0"/>
              <a:t>Proper digital forensic practices prevent evidence from being lost.</a:t>
            </a:r>
          </a:p>
        </p:txBody>
      </p:sp>
    </p:spTree>
    <p:extLst>
      <p:ext uri="{BB962C8B-B14F-4D97-AF65-F5344CB8AC3E}">
        <p14:creationId xmlns:p14="http://schemas.microsoft.com/office/powerpoint/2010/main" val="273194132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19E495-BADD-3F9A-50C6-D7616AEFF62B}"/>
              </a:ext>
            </a:extLst>
          </p:cNvPr>
          <p:cNvSpPr>
            <a:spLocks noGrp="1"/>
          </p:cNvSpPr>
          <p:nvPr>
            <p:ph type="title"/>
          </p:nvPr>
        </p:nvSpPr>
        <p:spPr>
          <a:xfrm>
            <a:off x="1143001" y="318973"/>
            <a:ext cx="9905998" cy="1478570"/>
          </a:xfrm>
        </p:spPr>
        <p:txBody>
          <a:bodyPr/>
          <a:lstStyle/>
          <a:p>
            <a:pPr algn="ctr"/>
            <a:r>
              <a:rPr lang="en-US" b="1" dirty="0"/>
              <a:t>Security Policies</a:t>
            </a:r>
            <a:endParaRPr lang="en-US" dirty="0"/>
          </a:p>
        </p:txBody>
      </p:sp>
      <p:sp>
        <p:nvSpPr>
          <p:cNvPr id="3" name="Content Placeholder 2">
            <a:extLst>
              <a:ext uri="{FF2B5EF4-FFF2-40B4-BE49-F238E27FC236}">
                <a16:creationId xmlns:a16="http://schemas.microsoft.com/office/drawing/2014/main" id="{A9F85FB8-3865-9B6E-6EC1-463E32B8FD95}"/>
              </a:ext>
            </a:extLst>
          </p:cNvPr>
          <p:cNvSpPr>
            <a:spLocks noGrp="1"/>
          </p:cNvSpPr>
          <p:nvPr>
            <p:ph idx="1"/>
          </p:nvPr>
        </p:nvSpPr>
        <p:spPr>
          <a:xfrm>
            <a:off x="647424" y="1264005"/>
            <a:ext cx="11208243" cy="5593995"/>
          </a:xfrm>
        </p:spPr>
        <p:txBody>
          <a:bodyPr>
            <a:normAutofit/>
          </a:bodyPr>
          <a:lstStyle/>
          <a:p>
            <a:pPr marL="0" indent="0">
              <a:buNone/>
            </a:pPr>
            <a:r>
              <a:rPr lang="en-US" dirty="0"/>
              <a:t>A security policy is a document that spells out the rules, expectations, and overall approach that an organization uses to maintain the CIA triad of its data. Security policies exist at many different levels, from high-level constructs that describe an enterprise’s general security goals and principles to documents addressing specific issues, such as remote access or ransomware attack.</a:t>
            </a:r>
          </a:p>
          <a:p>
            <a:pPr marL="0" indent="0">
              <a:buNone/>
            </a:pPr>
            <a:endParaRPr lang="en-US" dirty="0"/>
          </a:p>
          <a:p>
            <a:pPr marL="0" indent="0" algn="ctr">
              <a:buNone/>
            </a:pPr>
            <a:r>
              <a:rPr lang="en-US" dirty="0"/>
              <a:t> </a:t>
            </a:r>
            <a:r>
              <a:rPr lang="en-US" b="1" dirty="0"/>
              <a:t>Importance of Security Policies</a:t>
            </a:r>
          </a:p>
          <a:p>
            <a:r>
              <a:rPr lang="en-US" dirty="0"/>
              <a:t>Guides the implementation of technical tools and controls</a:t>
            </a:r>
          </a:p>
          <a:p>
            <a:r>
              <a:rPr lang="en-US" dirty="0"/>
              <a:t>Sets clear expectations</a:t>
            </a:r>
          </a:p>
          <a:p>
            <a:r>
              <a:rPr lang="en-US" dirty="0"/>
              <a:t>Improves organizational efficiency and helps meet business objectives</a:t>
            </a:r>
          </a:p>
          <a:p>
            <a:endParaRPr lang="en-US" dirty="0"/>
          </a:p>
          <a:p>
            <a:endParaRPr lang="en-US" dirty="0"/>
          </a:p>
        </p:txBody>
      </p:sp>
    </p:spTree>
    <p:extLst>
      <p:ext uri="{BB962C8B-B14F-4D97-AF65-F5344CB8AC3E}">
        <p14:creationId xmlns:p14="http://schemas.microsoft.com/office/powerpoint/2010/main" val="253827247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FC153-8307-C749-E109-7C619EF5BE37}"/>
              </a:ext>
            </a:extLst>
          </p:cNvPr>
          <p:cNvSpPr>
            <a:spLocks noGrp="1"/>
          </p:cNvSpPr>
          <p:nvPr>
            <p:ph type="title"/>
          </p:nvPr>
        </p:nvSpPr>
        <p:spPr>
          <a:xfrm>
            <a:off x="1141413" y="0"/>
            <a:ext cx="9905998" cy="1478570"/>
          </a:xfrm>
        </p:spPr>
        <p:txBody>
          <a:bodyPr/>
          <a:lstStyle/>
          <a:p>
            <a:pPr algn="ctr"/>
            <a:r>
              <a:rPr lang="en-US" b="1" dirty="0"/>
              <a:t>compliance</a:t>
            </a:r>
          </a:p>
        </p:txBody>
      </p:sp>
      <p:sp>
        <p:nvSpPr>
          <p:cNvPr id="3" name="Content Placeholder 2">
            <a:extLst>
              <a:ext uri="{FF2B5EF4-FFF2-40B4-BE49-F238E27FC236}">
                <a16:creationId xmlns:a16="http://schemas.microsoft.com/office/drawing/2014/main" id="{30771666-A9A4-5F71-2755-5519DA0B399D}"/>
              </a:ext>
            </a:extLst>
          </p:cNvPr>
          <p:cNvSpPr>
            <a:spLocks noGrp="1"/>
          </p:cNvSpPr>
          <p:nvPr>
            <p:ph idx="1"/>
          </p:nvPr>
        </p:nvSpPr>
        <p:spPr>
          <a:xfrm>
            <a:off x="614856" y="942543"/>
            <a:ext cx="11382704" cy="5805098"/>
          </a:xfrm>
        </p:spPr>
        <p:txBody>
          <a:bodyPr>
            <a:normAutofit lnSpcReduction="10000"/>
          </a:bodyPr>
          <a:lstStyle/>
          <a:p>
            <a:pPr marL="0" indent="0">
              <a:buNone/>
            </a:pPr>
            <a:r>
              <a:rPr lang="en-US" dirty="0"/>
              <a:t>compliance is the process of verifying whether the organization follows certain rules standards, and regulations for data privacy such as GDPR. This involves building certain guidelines in which the data should be collected stored and used.</a:t>
            </a:r>
          </a:p>
          <a:p>
            <a:pPr marL="0" indent="0">
              <a:buNone/>
            </a:pPr>
            <a:endParaRPr lang="en-US" dirty="0"/>
          </a:p>
          <a:p>
            <a:pPr marL="0" indent="0" algn="ctr">
              <a:buNone/>
            </a:pPr>
            <a:r>
              <a:rPr lang="en-US" b="1" dirty="0"/>
              <a:t>Benefits of compliance</a:t>
            </a:r>
          </a:p>
          <a:p>
            <a:r>
              <a:rPr lang="en-US" dirty="0"/>
              <a:t>Reduces the likelihood of data breaches and cyberattacks.</a:t>
            </a:r>
          </a:p>
          <a:p>
            <a:r>
              <a:rPr lang="en-US" dirty="0"/>
              <a:t>Helps avoid legal consequences and penalties.</a:t>
            </a:r>
          </a:p>
          <a:p>
            <a:r>
              <a:rPr lang="en-US" dirty="0"/>
              <a:t>Builds and maintains trust by protecting sensitive information.</a:t>
            </a:r>
          </a:p>
          <a:p>
            <a:r>
              <a:rPr lang="en-US" dirty="0"/>
              <a:t>Safeguards data through encryption and regular security assessments.</a:t>
            </a:r>
          </a:p>
          <a:p>
            <a:r>
              <a:rPr lang="en-US" dirty="0"/>
              <a:t>Improves the ability to identify and respond to security incidents.</a:t>
            </a:r>
          </a:p>
          <a:p>
            <a:r>
              <a:rPr lang="en-US" dirty="0"/>
              <a:t>Demonstrates commitment to compliance and may open up new opportunities.</a:t>
            </a:r>
          </a:p>
          <a:p>
            <a:pPr marL="0" indent="0">
              <a:buNone/>
            </a:pPr>
            <a:endParaRPr lang="en-US" dirty="0"/>
          </a:p>
        </p:txBody>
      </p:sp>
    </p:spTree>
    <p:extLst>
      <p:ext uri="{BB962C8B-B14F-4D97-AF65-F5344CB8AC3E}">
        <p14:creationId xmlns:p14="http://schemas.microsoft.com/office/powerpoint/2010/main" val="272386467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2C8CAC-5044-2A3F-F134-B9BF779A7E66}"/>
              </a:ext>
            </a:extLst>
          </p:cNvPr>
          <p:cNvSpPr>
            <a:spLocks noGrp="1"/>
          </p:cNvSpPr>
          <p:nvPr>
            <p:ph type="title"/>
          </p:nvPr>
        </p:nvSpPr>
        <p:spPr>
          <a:xfrm>
            <a:off x="838200" y="1897062"/>
            <a:ext cx="10515600" cy="3063875"/>
          </a:xfrm>
        </p:spPr>
        <p:txBody>
          <a:bodyPr>
            <a:normAutofit/>
          </a:bodyPr>
          <a:lstStyle/>
          <a:p>
            <a:r>
              <a:rPr lang="en-US" sz="8000" b="1" dirty="0">
                <a:latin typeface="Agency FB" panose="020B0503020202020204" pitchFamily="34" charset="0"/>
              </a:rPr>
              <a:t>Thank  you for your time!</a:t>
            </a:r>
          </a:p>
        </p:txBody>
      </p:sp>
    </p:spTree>
    <p:extLst>
      <p:ext uri="{BB962C8B-B14F-4D97-AF65-F5344CB8AC3E}">
        <p14:creationId xmlns:p14="http://schemas.microsoft.com/office/powerpoint/2010/main" val="3121872108"/>
      </p:ext>
    </p:extLst>
  </p:cSld>
  <p:clrMapOvr>
    <a:masterClrMapping/>
  </p:clrMapOvr>
  <p:transition spd="slow">
    <p:push dir="u"/>
  </p:transition>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B5F27"/>
      </a:dk2>
      <a:lt2>
        <a:srgbClr val="D8FC68"/>
      </a:lt2>
      <a:accent1>
        <a:srgbClr val="DDC855"/>
      </a:accent1>
      <a:accent2>
        <a:srgbClr val="FCA03D"/>
      </a:accent2>
      <a:accent3>
        <a:srgbClr val="E36439"/>
      </a:accent3>
      <a:accent4>
        <a:srgbClr val="C2935B"/>
      </a:accent4>
      <a:accent5>
        <a:srgbClr val="88C25C"/>
      </a:accent5>
      <a:accent6>
        <a:srgbClr val="BFCC86"/>
      </a:accent6>
      <a:hlink>
        <a:srgbClr val="FFCE23"/>
      </a:hlink>
      <a:folHlink>
        <a:srgbClr val="FDEB86"/>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Top Shadow">
      <a:fillStyleLst>
        <a:solidFill>
          <a:schemeClr val="phClr"/>
        </a:solidFill>
        <a:gradFill rotWithShape="1">
          <a:gsLst>
            <a:gs pos="0">
              <a:schemeClr val="phClr">
                <a:tint val="10000"/>
                <a:satMod val="300000"/>
              </a:schemeClr>
            </a:gs>
            <a:gs pos="34000">
              <a:schemeClr val="phClr">
                <a:tint val="13500"/>
                <a:satMod val="250000"/>
              </a:schemeClr>
            </a:gs>
            <a:gs pos="100000">
              <a:schemeClr val="phClr">
                <a:tint val="60000"/>
                <a:satMod val="200000"/>
              </a:schemeClr>
            </a:gs>
          </a:gsLst>
          <a:path path="circle">
            <a:fillToRect l="50000" t="155000" r="50000" b="-55000"/>
          </a:path>
        </a:gradFill>
        <a:gradFill rotWithShape="1">
          <a:gsLst>
            <a:gs pos="0">
              <a:schemeClr val="phClr">
                <a:tint val="60000"/>
                <a:satMod val="160000"/>
              </a:schemeClr>
            </a:gs>
            <a:gs pos="46000">
              <a:schemeClr val="phClr">
                <a:tint val="86000"/>
                <a:satMod val="160000"/>
              </a:schemeClr>
            </a:gs>
            <a:gs pos="100000">
              <a:schemeClr val="phClr">
                <a:shade val="40000"/>
                <a:satMod val="160000"/>
              </a:schemeClr>
            </a:gs>
          </a:gsLst>
          <a:path path="circle">
            <a:fillToRect l="50000" t="155000" r="50000" b="-55000"/>
          </a:path>
        </a:gradFill>
      </a:fillStyleLst>
      <a:lnStyleLst>
        <a:ln w="9525" cap="flat" cmpd="sng" algn="ctr">
          <a:solidFill>
            <a:schemeClr val="phClr">
              <a:satMod val="120000"/>
            </a:schemeClr>
          </a:solidFill>
          <a:prstDash val="solid"/>
        </a:ln>
        <a:ln w="12700" cap="flat" cmpd="sng" algn="ctr">
          <a:solidFill>
            <a:schemeClr val="phClr"/>
          </a:solidFill>
          <a:prstDash val="solid"/>
        </a:ln>
        <a:ln w="25400" cap="flat" cmpd="sng" algn="ctr">
          <a:solidFill>
            <a:schemeClr val="phClr"/>
          </a:solidFill>
          <a:prstDash val="solid"/>
        </a:ln>
      </a:lnStyleLst>
      <a:effectStyleLst>
        <a:effectStyle>
          <a:effectLst>
            <a:outerShdw blurRad="63500" dist="25400" dir="14700000" algn="t" rotWithShape="0">
              <a:srgbClr val="000000">
                <a:alpha val="50000"/>
              </a:srgbClr>
            </a:outerShdw>
          </a:effectLst>
        </a:effectStyle>
        <a:effectStyle>
          <a:effectLst>
            <a:outerShdw blurRad="50800" dist="38100" dir="14700000" algn="t" rotWithShape="0">
              <a:srgbClr val="000000">
                <a:alpha val="60000"/>
              </a:srgbClr>
            </a:outerShdw>
          </a:effectLst>
        </a:effectStyle>
        <a:effectStyle>
          <a:effectLst>
            <a:outerShdw blurRad="53975" dist="41275" dir="14700000" algn="t" rotWithShape="0">
              <a:srgbClr val="000000">
                <a:alpha val="60000"/>
              </a:srgbClr>
            </a:outerShdw>
          </a:effectLst>
          <a:scene3d>
            <a:camera prst="orthographicFront">
              <a:rot lat="0" lon="0" rev="0"/>
            </a:camera>
            <a:lightRig rig="contrasting" dir="t">
              <a:rot lat="0" lon="0" rev="3600000"/>
            </a:lightRig>
          </a:scene3d>
          <a:sp3d prstMaterial="plastic">
            <a:bevelT w="127000" h="38200" prst="relaxedInset"/>
          </a:sp3d>
        </a:effectStyle>
      </a:effectStyleLst>
      <a:bgFillStyleLst>
        <a:solidFill>
          <a:schemeClr val="phClr"/>
        </a:solidFill>
        <a:gradFill rotWithShape="1">
          <a:gsLst>
            <a:gs pos="0">
              <a:schemeClr val="phClr">
                <a:tint val="98000"/>
                <a:hueMod val="88000"/>
                <a:satMod val="148000"/>
                <a:lumMod val="150000"/>
              </a:schemeClr>
            </a:gs>
            <a:gs pos="100000">
              <a:schemeClr val="phClr">
                <a:shade val="92000"/>
                <a:hueMod val="104000"/>
                <a:satMod val="140000"/>
                <a:lumMod val="68000"/>
              </a:schemeClr>
            </a:gs>
          </a:gsLst>
          <a:lin ang="5040000" scaled="0"/>
        </a:gradFill>
        <a:blipFill>
          <a:blip xmlns:r="http://schemas.openxmlformats.org/officeDocument/2006/relationships" r:embed="rId1">
            <a:duotone>
              <a:schemeClr val="phClr">
                <a:shade val="88000"/>
                <a:hueMod val="106000"/>
                <a:satMod val="140000"/>
                <a:lumMod val="54000"/>
              </a:schemeClr>
              <a:schemeClr val="phClr">
                <a:tint val="98000"/>
                <a:hueMod val="82000"/>
                <a:satMod val="150000"/>
                <a:lumMod val="16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97ECCC31-8429-4523-BE8D-8F09B7A4D46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TM04033919[[fn=Circuit]]</Template>
  <TotalTime>3589</TotalTime>
  <Words>2031</Words>
  <Application>Microsoft Office PowerPoint</Application>
  <PresentationFormat>Widescreen</PresentationFormat>
  <Paragraphs>176</Paragraphs>
  <Slides>21</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21</vt:i4>
      </vt:variant>
    </vt:vector>
  </HeadingPairs>
  <TitlesOfParts>
    <vt:vector size="26" baseType="lpstr">
      <vt:lpstr>Agency FB</vt:lpstr>
      <vt:lpstr>Arial</vt:lpstr>
      <vt:lpstr>Calibri</vt:lpstr>
      <vt:lpstr>Tw Cen MT</vt:lpstr>
      <vt:lpstr>Circuit</vt:lpstr>
      <vt:lpstr>CompTIA Security+ (SY0-701) Learning Summary</vt:lpstr>
      <vt:lpstr>What is CompTIA Security+</vt:lpstr>
      <vt:lpstr>CIA triad</vt:lpstr>
      <vt:lpstr>PowerPoint Presentation</vt:lpstr>
      <vt:lpstr>Encryption</vt:lpstr>
      <vt:lpstr>What is a threat actor?</vt:lpstr>
      <vt:lpstr>What is social engineering?</vt:lpstr>
      <vt:lpstr>What is Vulnerabilities?</vt:lpstr>
      <vt:lpstr>What is malware?</vt:lpstr>
      <vt:lpstr>Common attacks in cybersecurity</vt:lpstr>
      <vt:lpstr>Data protection, States, Classification, DLP and backup</vt:lpstr>
      <vt:lpstr>Security hardening</vt:lpstr>
      <vt:lpstr>What Is Penetration Testing?</vt:lpstr>
      <vt:lpstr>Monitoring</vt:lpstr>
      <vt:lpstr>Firewall</vt:lpstr>
      <vt:lpstr>Identity and Access Management or IAM</vt:lpstr>
      <vt:lpstr>Scripting and Automation</vt:lpstr>
      <vt:lpstr>Digital forensics</vt:lpstr>
      <vt:lpstr>Security Policies</vt:lpstr>
      <vt:lpstr>compliance</vt:lpstr>
      <vt:lpstr>Thank  you for your time!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CompTIA Network+ (N10-009) – 2 Weeks Learning Summary</dc:title>
  <dc:creator>Ibrahim Khan</dc:creator>
  <cp:lastModifiedBy>Ibrahim Khan</cp:lastModifiedBy>
  <cp:revision>77</cp:revision>
  <dcterms:created xsi:type="dcterms:W3CDTF">2025-12-04T05:48:57Z</dcterms:created>
  <dcterms:modified xsi:type="dcterms:W3CDTF">2026-01-10T14:29:50Z</dcterms:modified>
</cp:coreProperties>
</file>